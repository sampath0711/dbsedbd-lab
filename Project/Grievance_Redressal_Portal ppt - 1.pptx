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463040"/>
            <a:ext cx="4754880" cy="4754880"/>
          </a:xfrm>
          <a:prstGeom prst="ellipse">
            <a:avLst/>
          </a:prstGeom>
          <a:solidFill>
            <a:srgbClr val="273478"/>
          </a:solidFill>
          <a:ln/>
        </p:spPr>
      </p:sp>
      <p:sp>
        <p:nvSpPr>
          <p:cNvPr id="3" name="Shape 1"/>
          <p:cNvSpPr/>
          <p:nvPr/>
        </p:nvSpPr>
        <p:spPr>
          <a:xfrm>
            <a:off x="-1645920" y="5074920"/>
            <a:ext cx="3291840" cy="3291840"/>
          </a:xfrm>
          <a:prstGeom prst="ellipse">
            <a:avLst/>
          </a:prstGeom>
          <a:solidFill>
            <a:srgbClr val="273478"/>
          </a:solidFill>
          <a:ln/>
        </p:spPr>
      </p:sp>
      <p:sp>
        <p:nvSpPr>
          <p:cNvPr id="4" name="Text 2"/>
          <p:cNvSpPr/>
          <p:nvPr/>
        </p:nvSpPr>
        <p:spPr>
          <a:xfrm>
            <a:off x="822960" y="685800"/>
            <a:ext cx="9144000" cy="365760"/>
          </a:xfrm>
          <a:prstGeom prst="rect">
            <a:avLst/>
          </a:prstGeom>
          <a:noFill/>
          <a:ln/>
        </p:spPr>
        <p:txBody>
          <a:bodyPr wrap="square" rtlCol="0" anchor="ctr"/>
          <a:lstStyle/>
          <a:p>
            <a:pPr indent="0" marL="0">
              <a:buNone/>
            </a:pPr>
            <a:r>
              <a:rPr lang="en-US" sz="1250" b="1" spc="250" kern="0" dirty="0">
                <a:solidFill>
                  <a:srgbClr val="CADCFC"/>
                </a:solidFill>
                <a:latin typeface="Calibri" pitchFamily="34" charset="0"/>
                <a:ea typeface="Calibri" pitchFamily="34" charset="-122"/>
                <a:cs typeface="Calibri" pitchFamily="34" charset="-120"/>
              </a:rPr>
              <a:t>DATABASE AND BACKEND SYSTEMS  ·  SECTION 10</a:t>
            </a:r>
            <a:endParaRPr lang="en-US" sz="1250" dirty="0"/>
          </a:p>
        </p:txBody>
      </p:sp>
      <p:sp>
        <p:nvSpPr>
          <p:cNvPr id="5" name="Text 3"/>
          <p:cNvSpPr/>
          <p:nvPr/>
        </p:nvSpPr>
        <p:spPr>
          <a:xfrm>
            <a:off x="777240" y="1143000"/>
            <a:ext cx="9601200" cy="1874520"/>
          </a:xfrm>
          <a:prstGeom prst="rect">
            <a:avLst/>
          </a:prstGeom>
          <a:noFill/>
          <a:ln/>
        </p:spPr>
        <p:txBody>
          <a:bodyPr wrap="square"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Grievance Redressal</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Portal for Institutions</a:t>
            </a:r>
            <a:endParaRPr lang="en-US" sz="4000" dirty="0"/>
          </a:p>
        </p:txBody>
      </p:sp>
      <p:sp>
        <p:nvSpPr>
          <p:cNvPr id="6" name="Text 4"/>
          <p:cNvSpPr/>
          <p:nvPr/>
        </p:nvSpPr>
        <p:spPr>
          <a:xfrm>
            <a:off x="822960" y="3063240"/>
            <a:ext cx="7680960" cy="685800"/>
          </a:xfrm>
          <a:prstGeom prst="rect">
            <a:avLst/>
          </a:prstGeom>
          <a:noFill/>
          <a:ln/>
        </p:spPr>
        <p:txBody>
          <a:bodyPr wrap="square" rtlCol="0" anchor="ctr"/>
          <a:lstStyle/>
          <a:p>
            <a:pPr indent="0" marL="0">
              <a:lnSpc>
                <a:spcPts val="1900"/>
              </a:lnSpc>
              <a:buNone/>
            </a:pPr>
            <a:r>
              <a:rPr lang="en-US" sz="1400" dirty="0">
                <a:solidFill>
                  <a:srgbClr val="CADCFC"/>
                </a:solidFill>
                <a:latin typeface="Calibri" pitchFamily="34" charset="0"/>
                <a:ea typeface="Calibri" pitchFamily="34" charset="-122"/>
                <a:cs typeface="Calibri" pitchFamily="34" charset="-120"/>
              </a:rPr>
              <a:t>A centralized, intelligent, and transparent platform for submitting, tracking, and resolving institutional grievances.</a:t>
            </a:r>
            <a:endParaRPr lang="en-US" sz="1400" dirty="0"/>
          </a:p>
        </p:txBody>
      </p:sp>
      <p:sp>
        <p:nvSpPr>
          <p:cNvPr id="7" name="Shape 5"/>
          <p:cNvSpPr/>
          <p:nvPr/>
        </p:nvSpPr>
        <p:spPr>
          <a:xfrm>
            <a:off x="822960" y="3840480"/>
            <a:ext cx="2331720" cy="548640"/>
          </a:xfrm>
          <a:prstGeom prst="roundRect">
            <a:avLst>
              <a:gd name="adj" fmla="val 16667"/>
            </a:avLst>
          </a:prstGeom>
          <a:solidFill>
            <a:srgbClr val="273478"/>
          </a:solidFill>
          <a:ln/>
        </p:spPr>
      </p:sp>
      <p:pic>
        <p:nvPicPr>
          <p:cNvPr id="8" name="Image 0" descr="/home/claude/ppt/icons/react_CADCFC.png">    </p:cNvPr>
          <p:cNvPicPr>
            <a:picLocks noChangeAspect="1"/>
          </p:cNvPicPr>
          <p:nvPr/>
        </p:nvPicPr>
        <p:blipFill>
          <a:blip r:embed="rId1"/>
          <a:stretch>
            <a:fillRect/>
          </a:stretch>
        </p:blipFill>
        <p:spPr>
          <a:xfrm>
            <a:off x="969264" y="3968496"/>
            <a:ext cx="292608" cy="292608"/>
          </a:xfrm>
          <a:prstGeom prst="rect">
            <a:avLst/>
          </a:prstGeom>
        </p:spPr>
      </p:pic>
      <p:sp>
        <p:nvSpPr>
          <p:cNvPr id="9" name="Text 6"/>
          <p:cNvSpPr/>
          <p:nvPr/>
        </p:nvSpPr>
        <p:spPr>
          <a:xfrm>
            <a:off x="1335024" y="3840480"/>
            <a:ext cx="1783080"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React JS Frontend</a:t>
            </a:r>
            <a:endParaRPr lang="en-US" sz="1100" dirty="0"/>
          </a:p>
        </p:txBody>
      </p:sp>
      <p:sp>
        <p:nvSpPr>
          <p:cNvPr id="10" name="Shape 7"/>
          <p:cNvSpPr/>
          <p:nvPr/>
        </p:nvSpPr>
        <p:spPr>
          <a:xfrm>
            <a:off x="3319272" y="3840480"/>
            <a:ext cx="2331720" cy="548640"/>
          </a:xfrm>
          <a:prstGeom prst="roundRect">
            <a:avLst>
              <a:gd name="adj" fmla="val 16667"/>
            </a:avLst>
          </a:prstGeom>
          <a:solidFill>
            <a:srgbClr val="273478"/>
          </a:solidFill>
          <a:ln/>
        </p:spPr>
      </p:sp>
      <p:pic>
        <p:nvPicPr>
          <p:cNvPr id="11" name="Image 1" descr="/home/claude/ppt/icons/nodejs_CADCFC.png">    </p:cNvPr>
          <p:cNvPicPr>
            <a:picLocks noChangeAspect="1"/>
          </p:cNvPicPr>
          <p:nvPr/>
        </p:nvPicPr>
        <p:blipFill>
          <a:blip r:embed="rId2"/>
          <a:stretch>
            <a:fillRect/>
          </a:stretch>
        </p:blipFill>
        <p:spPr>
          <a:xfrm>
            <a:off x="3465576" y="3968496"/>
            <a:ext cx="292608" cy="292608"/>
          </a:xfrm>
          <a:prstGeom prst="rect">
            <a:avLst/>
          </a:prstGeom>
        </p:spPr>
      </p:pic>
      <p:sp>
        <p:nvSpPr>
          <p:cNvPr id="12" name="Text 8"/>
          <p:cNvSpPr/>
          <p:nvPr/>
        </p:nvSpPr>
        <p:spPr>
          <a:xfrm>
            <a:off x="3831336" y="3840480"/>
            <a:ext cx="1783080"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Node.js Backend</a:t>
            </a:r>
            <a:endParaRPr lang="en-US" sz="1100" dirty="0"/>
          </a:p>
        </p:txBody>
      </p:sp>
      <p:sp>
        <p:nvSpPr>
          <p:cNvPr id="13" name="Shape 9"/>
          <p:cNvSpPr/>
          <p:nvPr/>
        </p:nvSpPr>
        <p:spPr>
          <a:xfrm>
            <a:off x="5815584" y="3840480"/>
            <a:ext cx="2331720" cy="548640"/>
          </a:xfrm>
          <a:prstGeom prst="roundRect">
            <a:avLst>
              <a:gd name="adj" fmla="val 16667"/>
            </a:avLst>
          </a:prstGeom>
          <a:solidFill>
            <a:srgbClr val="273478"/>
          </a:solidFill>
          <a:ln/>
        </p:spPr>
      </p:sp>
      <p:pic>
        <p:nvPicPr>
          <p:cNvPr id="14" name="Image 2" descr="/home/claude/ppt/icons/database_CADCFC.png">    </p:cNvPr>
          <p:cNvPicPr>
            <a:picLocks noChangeAspect="1"/>
          </p:cNvPicPr>
          <p:nvPr/>
        </p:nvPicPr>
        <p:blipFill>
          <a:blip r:embed="rId3"/>
          <a:stretch>
            <a:fillRect/>
          </a:stretch>
        </p:blipFill>
        <p:spPr>
          <a:xfrm>
            <a:off x="5961888" y="3968496"/>
            <a:ext cx="292608" cy="292608"/>
          </a:xfrm>
          <a:prstGeom prst="rect">
            <a:avLst/>
          </a:prstGeom>
        </p:spPr>
      </p:pic>
      <p:sp>
        <p:nvSpPr>
          <p:cNvPr id="15" name="Text 10"/>
          <p:cNvSpPr/>
          <p:nvPr/>
        </p:nvSpPr>
        <p:spPr>
          <a:xfrm>
            <a:off x="6327648" y="3840480"/>
            <a:ext cx="1783080"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MySQL Database</a:t>
            </a:r>
            <a:endParaRPr lang="en-US" sz="1100" dirty="0"/>
          </a:p>
        </p:txBody>
      </p:sp>
      <p:sp>
        <p:nvSpPr>
          <p:cNvPr id="16" name="Shape 11"/>
          <p:cNvSpPr/>
          <p:nvPr/>
        </p:nvSpPr>
        <p:spPr>
          <a:xfrm>
            <a:off x="8311896" y="3840480"/>
            <a:ext cx="2331720" cy="548640"/>
          </a:xfrm>
          <a:prstGeom prst="roundRect">
            <a:avLst>
              <a:gd name="adj" fmla="val 16667"/>
            </a:avLst>
          </a:prstGeom>
          <a:solidFill>
            <a:srgbClr val="273478"/>
          </a:solidFill>
          <a:ln/>
        </p:spPr>
      </p:sp>
      <p:pic>
        <p:nvPicPr>
          <p:cNvPr id="17" name="Image 3" descr="/home/claude/ppt/icons/shield_CADCFC.png">    </p:cNvPr>
          <p:cNvPicPr>
            <a:picLocks noChangeAspect="1"/>
          </p:cNvPicPr>
          <p:nvPr/>
        </p:nvPicPr>
        <p:blipFill>
          <a:blip r:embed="rId4"/>
          <a:stretch>
            <a:fillRect/>
          </a:stretch>
        </p:blipFill>
        <p:spPr>
          <a:xfrm>
            <a:off x="8458200" y="3968496"/>
            <a:ext cx="292608" cy="292608"/>
          </a:xfrm>
          <a:prstGeom prst="rect">
            <a:avLst/>
          </a:prstGeom>
        </p:spPr>
      </p:pic>
      <p:sp>
        <p:nvSpPr>
          <p:cNvPr id="18" name="Text 12"/>
          <p:cNvSpPr/>
          <p:nvPr/>
        </p:nvSpPr>
        <p:spPr>
          <a:xfrm>
            <a:off x="8823960" y="3840480"/>
            <a:ext cx="1783080" cy="54864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JWT Secured</a:t>
            </a:r>
            <a:endParaRPr lang="en-US" sz="1100" dirty="0"/>
          </a:p>
        </p:txBody>
      </p:sp>
      <p:sp>
        <p:nvSpPr>
          <p:cNvPr id="19" name="Shape 13"/>
          <p:cNvSpPr/>
          <p:nvPr/>
        </p:nvSpPr>
        <p:spPr>
          <a:xfrm>
            <a:off x="822960" y="4709160"/>
            <a:ext cx="7680960" cy="1691640"/>
          </a:xfrm>
          <a:prstGeom prst="roundRect">
            <a:avLst>
              <a:gd name="adj" fmla="val 6486"/>
            </a:avLst>
          </a:prstGeom>
          <a:solidFill>
            <a:srgbClr val="141B4D"/>
          </a:solidFill>
          <a:ln/>
        </p:spPr>
      </p:sp>
      <p:pic>
        <p:nvPicPr>
          <p:cNvPr id="20" name="Image 4" descr="/home/claude/ppt/icons/grad_CADCFC.png">    </p:cNvPr>
          <p:cNvPicPr>
            <a:picLocks noChangeAspect="1"/>
          </p:cNvPicPr>
          <p:nvPr/>
        </p:nvPicPr>
        <p:blipFill>
          <a:blip r:embed="rId5"/>
          <a:stretch>
            <a:fillRect/>
          </a:stretch>
        </p:blipFill>
        <p:spPr>
          <a:xfrm>
            <a:off x="1051560" y="4937760"/>
            <a:ext cx="365760" cy="365760"/>
          </a:xfrm>
          <a:prstGeom prst="rect">
            <a:avLst/>
          </a:prstGeom>
        </p:spPr>
      </p:pic>
      <p:sp>
        <p:nvSpPr>
          <p:cNvPr id="21" name="Text 14"/>
          <p:cNvSpPr/>
          <p:nvPr/>
        </p:nvSpPr>
        <p:spPr>
          <a:xfrm>
            <a:off x="1554480" y="4937760"/>
            <a:ext cx="3657600" cy="365760"/>
          </a:xfrm>
          <a:prstGeom prst="rect">
            <a:avLst/>
          </a:prstGeom>
          <a:noFill/>
          <a:ln/>
        </p:spPr>
        <p:txBody>
          <a:bodyPr wrap="square" rtlCol="0" anchor="ctr"/>
          <a:lstStyle/>
          <a:p>
            <a:pPr indent="0" marL="0">
              <a:buNone/>
            </a:pPr>
            <a:r>
              <a:rPr lang="en-US" sz="1200" b="1" spc="150" kern="0" dirty="0">
                <a:solidFill>
                  <a:srgbClr val="CADCFC"/>
                </a:solidFill>
                <a:latin typeface="Calibri" pitchFamily="34" charset="0"/>
                <a:ea typeface="Calibri" pitchFamily="34" charset="-122"/>
                <a:cs typeface="Calibri" pitchFamily="34" charset="-120"/>
              </a:rPr>
              <a:t>PRESENTED BY</a:t>
            </a:r>
            <a:endParaRPr lang="en-US" sz="1200" dirty="0"/>
          </a:p>
        </p:txBody>
      </p:sp>
      <p:sp>
        <p:nvSpPr>
          <p:cNvPr id="22" name="Text 15"/>
          <p:cNvSpPr/>
          <p:nvPr/>
        </p:nvSpPr>
        <p:spPr>
          <a:xfrm>
            <a:off x="1051560" y="5394960"/>
            <a:ext cx="4206240" cy="914400"/>
          </a:xfrm>
          <a:prstGeom prst="rect">
            <a:avLst/>
          </a:prstGeom>
          <a:noFill/>
          <a:ln/>
        </p:spPr>
        <p:txBody>
          <a:bodyPr wrap="square" rtlCol="0" anchor="ctr"/>
          <a:lstStyle/>
          <a:p>
            <a:pPr indent="0" marL="0">
              <a:lnSpc>
                <a:spcPts val="2600"/>
              </a:lnSpc>
              <a:buNone/>
            </a:pPr>
            <a:r>
              <a:rPr lang="en-US" sz="1350" b="1" dirty="0">
                <a:solidFill>
                  <a:srgbClr val="FFFFFF"/>
                </a:solidFill>
                <a:latin typeface="Calibri" pitchFamily="34" charset="0"/>
                <a:ea typeface="Calibri" pitchFamily="34" charset="-122"/>
                <a:cs typeface="Calibri" pitchFamily="34" charset="-120"/>
              </a:rPr>
              <a:t>2520090005</a:t>
            </a:r>
            <a:pPr indent="0" marL="0">
              <a:lnSpc>
                <a:spcPts val="2600"/>
              </a:lnSpc>
              <a:buNone/>
            </a:pPr>
            <a:r>
              <a:rPr lang="en-US" sz="1350" dirty="0">
                <a:solidFill>
                  <a:srgbClr val="CADCFC"/>
                </a:solidFill>
                <a:latin typeface="Calibri" pitchFamily="34" charset="0"/>
                <a:ea typeface="Calibri" pitchFamily="34" charset="-122"/>
                <a:cs typeface="Calibri" pitchFamily="34" charset="-120"/>
              </a:rPr>
              <a:t>   M Sampath
</a:t>
            </a:r>
            <a:pPr indent="0" marL="0">
              <a:lnSpc>
                <a:spcPts val="2600"/>
              </a:lnSpc>
              <a:buNone/>
            </a:pPr>
            <a:r>
              <a:rPr lang="en-US" sz="1350" b="1" dirty="0">
                <a:solidFill>
                  <a:srgbClr val="FFFFFF"/>
                </a:solidFill>
                <a:latin typeface="Calibri" pitchFamily="34" charset="0"/>
                <a:ea typeface="Calibri" pitchFamily="34" charset="-122"/>
                <a:cs typeface="Calibri" pitchFamily="34" charset="-120"/>
              </a:rPr>
              <a:t>2520080064</a:t>
            </a:r>
            <a:pPr indent="0" marL="0">
              <a:lnSpc>
                <a:spcPts val="2600"/>
              </a:lnSpc>
              <a:buNone/>
            </a:pPr>
            <a:r>
              <a:rPr lang="en-US" sz="1350" dirty="0">
                <a:solidFill>
                  <a:srgbClr val="CADCFC"/>
                </a:solidFill>
                <a:latin typeface="Calibri" pitchFamily="34" charset="0"/>
                <a:ea typeface="Calibri" pitchFamily="34" charset="-122"/>
                <a:cs typeface="Calibri" pitchFamily="34" charset="-120"/>
              </a:rPr>
              <a:t>   M Susheel</a:t>
            </a:r>
            <a:endParaRPr lang="en-US" sz="1350" dirty="0"/>
          </a:p>
        </p:txBody>
      </p:sp>
      <p:sp>
        <p:nvSpPr>
          <p:cNvPr id="23" name="Shape 16"/>
          <p:cNvSpPr/>
          <p:nvPr/>
        </p:nvSpPr>
        <p:spPr>
          <a:xfrm>
            <a:off x="5577840" y="5029200"/>
            <a:ext cx="0" cy="1188720"/>
          </a:xfrm>
          <a:prstGeom prst="line">
            <a:avLst/>
          </a:prstGeom>
          <a:noFill/>
          <a:ln w="12700">
            <a:solidFill>
              <a:srgbClr val="3B4586"/>
            </a:solidFill>
            <a:prstDash val="solid"/>
          </a:ln>
        </p:spPr>
      </p:sp>
      <p:sp>
        <p:nvSpPr>
          <p:cNvPr id="24" name="Text 17"/>
          <p:cNvSpPr/>
          <p:nvPr/>
        </p:nvSpPr>
        <p:spPr>
          <a:xfrm>
            <a:off x="5852160" y="4937760"/>
            <a:ext cx="2468880" cy="1371600"/>
          </a:xfrm>
          <a:prstGeom prst="rect">
            <a:avLst/>
          </a:prstGeom>
          <a:noFill/>
          <a:ln/>
        </p:spPr>
        <p:txBody>
          <a:bodyPr wrap="square" rtlCol="0" anchor="ctr"/>
          <a:lstStyle/>
          <a:p>
            <a:pPr indent="0" marL="0">
              <a:lnSpc>
                <a:spcPts val="1600"/>
              </a:lnSpc>
              <a:spcAft>
                <a:spcPts val="400"/>
              </a:spcAft>
              <a:buNone/>
            </a:pPr>
            <a:r>
              <a:rPr lang="en-US" sz="1050" b="1" spc="100" kern="0" dirty="0">
                <a:solidFill>
                  <a:srgbClr val="CADCFC"/>
                </a:solidFill>
                <a:latin typeface="Calibri" pitchFamily="34" charset="0"/>
                <a:ea typeface="Calibri" pitchFamily="34" charset="-122"/>
                <a:cs typeface="Calibri" pitchFamily="34" charset="-120"/>
              </a:rPr>
              <a:t>SUBJECT
</a:t>
            </a:r>
            <a:pPr indent="0" marL="0">
              <a:lnSpc>
                <a:spcPts val="1600"/>
              </a:lnSpc>
              <a:spcAft>
                <a:spcPts val="400"/>
              </a:spcAft>
              <a:buNone/>
            </a:pPr>
            <a:r>
              <a:rPr lang="en-US" sz="1250" b="1" dirty="0">
                <a:solidFill>
                  <a:srgbClr val="FFFFFF"/>
                </a:solidFill>
                <a:latin typeface="Calibri" pitchFamily="34" charset="0"/>
                <a:ea typeface="Calibri" pitchFamily="34" charset="-122"/>
                <a:cs typeface="Calibri" pitchFamily="34" charset="-120"/>
              </a:rPr>
              <a:t>Database and Backend Systems
</a:t>
            </a:r>
            <a:endParaRPr lang="en-US" sz="1050" dirty="0"/>
          </a:p>
          <a:p>
            <a:pPr indent="0" marL="0">
              <a:lnSpc>
                <a:spcPts val="1600"/>
              </a:lnSpc>
              <a:spcAft>
                <a:spcPts val="400"/>
              </a:spcAft>
              <a:buNone/>
            </a:pPr>
            <a:r>
              <a:rPr lang="en-US" sz="1050" b="1" spc="100" kern="0" dirty="0">
                <a:solidFill>
                  <a:srgbClr val="CADCFC"/>
                </a:solidFill>
                <a:latin typeface="Calibri" pitchFamily="34" charset="0"/>
                <a:ea typeface="Calibri" pitchFamily="34" charset="-122"/>
                <a:cs typeface="Calibri" pitchFamily="34" charset="-120"/>
              </a:rPr>
              <a:t>SECTION
</a:t>
            </a:r>
            <a:pPr indent="0" marL="0">
              <a:lnSpc>
                <a:spcPts val="1600"/>
              </a:lnSpc>
              <a:spcAft>
                <a:spcPts val="400"/>
              </a:spcAft>
              <a:buNone/>
            </a:pPr>
            <a:r>
              <a:rPr lang="en-US" sz="1250" b="1" dirty="0">
                <a:solidFill>
                  <a:srgbClr val="FFFFFF"/>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INTRODUCTION</a:t>
            </a:r>
            <a:endParaRPr lang="en-US" sz="1300" dirty="0"/>
          </a:p>
        </p:txBody>
      </p:sp>
      <p:sp>
        <p:nvSpPr>
          <p:cNvPr id="3" name="Text 1"/>
          <p:cNvSpPr/>
          <p:nvPr/>
        </p:nvSpPr>
        <p:spPr>
          <a:xfrm>
            <a:off x="640080" y="777240"/>
            <a:ext cx="7772400" cy="548640"/>
          </a:xfrm>
          <a:prstGeom prst="rect">
            <a:avLst/>
          </a:prstGeom>
          <a:noFill/>
          <a:ln/>
        </p:spPr>
        <p:txBody>
          <a:bodyPr wrap="square" rtlCol="0" anchor="ctr"/>
          <a:lstStyle/>
          <a:p>
            <a:pPr indent="0" marL="0">
              <a:buNone/>
            </a:pPr>
            <a:r>
              <a:rPr lang="en-US" sz="2700" b="1" dirty="0">
                <a:solidFill>
                  <a:srgbClr val="23262F"/>
                </a:solidFill>
                <a:latin typeface="Cambria" pitchFamily="34" charset="0"/>
                <a:ea typeface="Cambria" pitchFamily="34" charset="-122"/>
                <a:cs typeface="Cambria" pitchFamily="34" charset="-120"/>
              </a:rPr>
              <a:t>Reimagining Grievance Management</a:t>
            </a:r>
            <a:endParaRPr lang="en-US" sz="2700" dirty="0"/>
          </a:p>
        </p:txBody>
      </p:sp>
      <p:sp>
        <p:nvSpPr>
          <p:cNvPr id="4" name="Shape 2"/>
          <p:cNvSpPr/>
          <p:nvPr/>
        </p:nvSpPr>
        <p:spPr>
          <a:xfrm>
            <a:off x="640080" y="1481328"/>
            <a:ext cx="6035040" cy="10973"/>
          </a:xfrm>
          <a:prstGeom prst="rect">
            <a:avLst/>
          </a:prstGeom>
          <a:solidFill>
            <a:srgbClr val="CADCFC"/>
          </a:solidFill>
          <a:ln/>
        </p:spPr>
      </p:sp>
      <p:sp>
        <p:nvSpPr>
          <p:cNvPr id="5" name="Text 3"/>
          <p:cNvSpPr/>
          <p:nvPr/>
        </p:nvSpPr>
        <p:spPr>
          <a:xfrm>
            <a:off x="640080" y="1783080"/>
            <a:ext cx="6035040" cy="4297680"/>
          </a:xfrm>
          <a:prstGeom prst="rect">
            <a:avLst/>
          </a:prstGeom>
          <a:noFill/>
          <a:ln/>
        </p:spPr>
        <p:txBody>
          <a:bodyPr wrap="square" rtlCol="0" anchor="t"/>
          <a:lstStyle/>
          <a:p>
            <a:pPr indent="0" marL="0">
              <a:lnSpc>
                <a:spcPts val="2100"/>
              </a:lnSpc>
              <a:buNone/>
            </a:pPr>
            <a:r>
              <a:rPr lang="en-US" sz="1400" dirty="0">
                <a:solidFill>
                  <a:srgbClr val="23262F"/>
                </a:solidFill>
                <a:latin typeface="Calibri" pitchFamily="34" charset="0"/>
                <a:ea typeface="Calibri" pitchFamily="34" charset="-122"/>
                <a:cs typeface="Calibri" pitchFamily="34" charset="-120"/>
              </a:rPr>
              <a:t>Every institution — colleges, universities, and large organizations — deals with recurring complaints from students, faculty, and staff: academic disputes, examination issues, infrastructure problems, hostel concerns, and administrative delays. Today, most of these are handled manually through paper forms, emails, or verbal escalation, with no consistent way to track progress or measure accountability.
</a:t>
            </a:r>
            <a:pPr indent="0" marL="0">
              <a:lnSpc>
                <a:spcPts val="2100"/>
              </a:lnSpc>
              <a:buNone/>
            </a:pPr>
            <a:r>
              <a:rPr lang="en-US" sz="1400" dirty="0">
                <a:solidFill>
                  <a:srgbClr val="23262F"/>
                </a:solidFill>
                <a:latin typeface="Calibri" pitchFamily="34" charset="0"/>
                <a:ea typeface="Calibri" pitchFamily="34" charset="-122"/>
                <a:cs typeface="Calibri" pitchFamily="34" charset="-120"/>
              </a:rPr>
              <a:t>The Grievance Redressal Portal replaces this ad-hoc process with a single, centralized web application. </a:t>
            </a:r>
            <a:pPr indent="0" marL="0">
              <a:lnSpc>
                <a:spcPts val="2100"/>
              </a:lnSpc>
              <a:buNone/>
            </a:pPr>
            <a:r>
              <a:rPr lang="en-US" sz="1400" dirty="0">
                <a:solidFill>
                  <a:srgbClr val="23262F"/>
                </a:solidFill>
                <a:latin typeface="Calibri" pitchFamily="34" charset="0"/>
                <a:ea typeface="Calibri" pitchFamily="34" charset="-122"/>
                <a:cs typeface="Calibri" pitchFamily="34" charset="-120"/>
              </a:rPr>
              <a:t>Anyone in the institution can log in, submit a grievance in a structured form, and track its status in real time — from submission to resolution.
</a:t>
            </a:r>
            <a:pPr indent="0" marL="0">
              <a:lnSpc>
                <a:spcPts val="2100"/>
              </a:lnSpc>
              <a:buNone/>
            </a:pPr>
            <a:r>
              <a:rPr lang="en-US" sz="1400" dirty="0">
                <a:solidFill>
                  <a:srgbClr val="23262F"/>
                </a:solidFill>
                <a:latin typeface="Calibri" pitchFamily="34" charset="0"/>
                <a:ea typeface="Calibri" pitchFamily="34" charset="-122"/>
                <a:cs typeface="Calibri" pitchFamily="34" charset="-120"/>
              </a:rPr>
              <a:t>Behind the scenes, the system automatically categorizes each grievance, assigns it a priority, and routes it to the right department, while every user only sees the data relevant to their role.</a:t>
            </a:r>
            <a:endParaRPr lang="en-US" sz="1400" dirty="0"/>
          </a:p>
        </p:txBody>
      </p:sp>
      <p:sp>
        <p:nvSpPr>
          <p:cNvPr id="6" name="Shape 4"/>
          <p:cNvSpPr/>
          <p:nvPr/>
        </p:nvSpPr>
        <p:spPr>
          <a:xfrm>
            <a:off x="7086600" y="822960"/>
            <a:ext cx="4434840" cy="5257800"/>
          </a:xfrm>
          <a:prstGeom prst="roundRect">
            <a:avLst>
              <a:gd name="adj" fmla="val 2474"/>
            </a:avLst>
          </a:prstGeom>
          <a:solidFill>
            <a:srgbClr val="F6F8FD"/>
          </a:solidFill>
          <a:ln/>
        </p:spPr>
      </p:sp>
      <p:sp>
        <p:nvSpPr>
          <p:cNvPr id="7" name="Text 5"/>
          <p:cNvSpPr/>
          <p:nvPr/>
        </p:nvSpPr>
        <p:spPr>
          <a:xfrm>
            <a:off x="7406640" y="1051560"/>
            <a:ext cx="3840480" cy="365760"/>
          </a:xfrm>
          <a:prstGeom prst="rect">
            <a:avLst/>
          </a:prstGeom>
          <a:noFill/>
          <a:ln/>
        </p:spPr>
        <p:txBody>
          <a:bodyPr wrap="square"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What the Portal Delivers</a:t>
            </a:r>
            <a:endParaRPr lang="en-US" sz="1400" dirty="0"/>
          </a:p>
        </p:txBody>
      </p:sp>
      <p:sp>
        <p:nvSpPr>
          <p:cNvPr id="8" name="Shape 6"/>
          <p:cNvSpPr/>
          <p:nvPr/>
        </p:nvSpPr>
        <p:spPr>
          <a:xfrm>
            <a:off x="7406640" y="1572768"/>
            <a:ext cx="457200" cy="457200"/>
          </a:xfrm>
          <a:prstGeom prst="ellipse">
            <a:avLst/>
          </a:prstGeom>
          <a:solidFill>
            <a:srgbClr val="1E2761"/>
          </a:solidFill>
          <a:ln/>
        </p:spPr>
      </p:sp>
      <p:pic>
        <p:nvPicPr>
          <p:cNvPr id="9" name="Image 0" descr="/home/claude/ppt/icons/clock_FFFFFF.png">    </p:cNvPr>
          <p:cNvPicPr>
            <a:picLocks noChangeAspect="1"/>
          </p:cNvPicPr>
          <p:nvPr/>
        </p:nvPicPr>
        <p:blipFill>
          <a:blip r:embed="rId1"/>
          <a:stretch>
            <a:fillRect/>
          </a:stretch>
        </p:blipFill>
        <p:spPr>
          <a:xfrm>
            <a:off x="7516368" y="1682496"/>
            <a:ext cx="237744" cy="237744"/>
          </a:xfrm>
          <a:prstGeom prst="rect">
            <a:avLst/>
          </a:prstGeom>
        </p:spPr>
      </p:pic>
      <p:sp>
        <p:nvSpPr>
          <p:cNvPr id="10" name="Text 7"/>
          <p:cNvSpPr/>
          <p:nvPr/>
        </p:nvSpPr>
        <p:spPr>
          <a:xfrm>
            <a:off x="8028432" y="1517904"/>
            <a:ext cx="3337560" cy="292608"/>
          </a:xfrm>
          <a:prstGeom prst="rect">
            <a:avLst/>
          </a:prstGeom>
          <a:noFill/>
          <a:ln/>
        </p:spPr>
        <p:txBody>
          <a:bodyPr wrap="square" rtlCol="0" anchor="ctr"/>
          <a:lstStyle/>
          <a:p>
            <a:pPr indent="0" marL="0">
              <a:buNone/>
            </a:pPr>
            <a:r>
              <a:rPr lang="en-US" sz="1300" b="1" dirty="0">
                <a:solidFill>
                  <a:srgbClr val="23262F"/>
                </a:solidFill>
                <a:latin typeface="Calibri" pitchFamily="34" charset="0"/>
                <a:ea typeface="Calibri" pitchFamily="34" charset="-122"/>
                <a:cs typeface="Calibri" pitchFamily="34" charset="-120"/>
              </a:rPr>
              <a:t>Real-Time Tracking</a:t>
            </a:r>
            <a:endParaRPr lang="en-US" sz="1300" dirty="0"/>
          </a:p>
        </p:txBody>
      </p:sp>
      <p:sp>
        <p:nvSpPr>
          <p:cNvPr id="11" name="Text 8"/>
          <p:cNvSpPr/>
          <p:nvPr/>
        </p:nvSpPr>
        <p:spPr>
          <a:xfrm>
            <a:off x="8028432" y="1810512"/>
            <a:ext cx="3383280" cy="594360"/>
          </a:xfrm>
          <a:prstGeom prst="rect">
            <a:avLst/>
          </a:prstGeom>
          <a:noFill/>
          <a:ln/>
        </p:spPr>
        <p:txBody>
          <a:bodyPr wrap="square" rtlCol="0" anchor="ctr"/>
          <a:lstStyle/>
          <a:p>
            <a:pPr indent="0" marL="0">
              <a:lnSpc>
                <a:spcPts val="1350"/>
              </a:lnSpc>
              <a:buNone/>
            </a:pPr>
            <a:r>
              <a:rPr lang="en-US" sz="1080" dirty="0">
                <a:solidFill>
                  <a:srgbClr val="6B7280"/>
                </a:solidFill>
                <a:latin typeface="Calibri" pitchFamily="34" charset="0"/>
                <a:ea typeface="Calibri" pitchFamily="34" charset="-122"/>
                <a:cs typeface="Calibri" pitchFamily="34" charset="-120"/>
              </a:rPr>
              <a:t>Complainants see exactly where their case stands, at every stage</a:t>
            </a:r>
            <a:endParaRPr lang="en-US" sz="1080" dirty="0"/>
          </a:p>
        </p:txBody>
      </p:sp>
      <p:sp>
        <p:nvSpPr>
          <p:cNvPr id="12" name="Shape 9"/>
          <p:cNvSpPr/>
          <p:nvPr/>
        </p:nvSpPr>
        <p:spPr>
          <a:xfrm>
            <a:off x="7406640" y="2670048"/>
            <a:ext cx="457200" cy="457200"/>
          </a:xfrm>
          <a:prstGeom prst="ellipse">
            <a:avLst/>
          </a:prstGeom>
          <a:solidFill>
            <a:srgbClr val="1E2761"/>
          </a:solidFill>
          <a:ln/>
        </p:spPr>
      </p:sp>
      <p:pic>
        <p:nvPicPr>
          <p:cNvPr id="13" name="Image 1" descr="/home/claude/ppt/icons/cogs_FFFFFF.png">    </p:cNvPr>
          <p:cNvPicPr>
            <a:picLocks noChangeAspect="1"/>
          </p:cNvPicPr>
          <p:nvPr/>
        </p:nvPicPr>
        <p:blipFill>
          <a:blip r:embed="rId2"/>
          <a:stretch>
            <a:fillRect/>
          </a:stretch>
        </p:blipFill>
        <p:spPr>
          <a:xfrm>
            <a:off x="7516368" y="2779776"/>
            <a:ext cx="237744" cy="237744"/>
          </a:xfrm>
          <a:prstGeom prst="rect">
            <a:avLst/>
          </a:prstGeom>
        </p:spPr>
      </p:pic>
      <p:sp>
        <p:nvSpPr>
          <p:cNvPr id="14" name="Text 10"/>
          <p:cNvSpPr/>
          <p:nvPr/>
        </p:nvSpPr>
        <p:spPr>
          <a:xfrm>
            <a:off x="8028432" y="2615184"/>
            <a:ext cx="3337560" cy="292608"/>
          </a:xfrm>
          <a:prstGeom prst="rect">
            <a:avLst/>
          </a:prstGeom>
          <a:noFill/>
          <a:ln/>
        </p:spPr>
        <p:txBody>
          <a:bodyPr wrap="square" rtlCol="0" anchor="ctr"/>
          <a:lstStyle/>
          <a:p>
            <a:pPr indent="0" marL="0">
              <a:buNone/>
            </a:pPr>
            <a:r>
              <a:rPr lang="en-US" sz="1300" b="1" dirty="0">
                <a:solidFill>
                  <a:srgbClr val="23262F"/>
                </a:solidFill>
                <a:latin typeface="Calibri" pitchFamily="34" charset="0"/>
                <a:ea typeface="Calibri" pitchFamily="34" charset="-122"/>
                <a:cs typeface="Calibri" pitchFamily="34" charset="-120"/>
              </a:rPr>
              <a:t>Automated Categorization</a:t>
            </a:r>
            <a:endParaRPr lang="en-US" sz="1300" dirty="0"/>
          </a:p>
        </p:txBody>
      </p:sp>
      <p:sp>
        <p:nvSpPr>
          <p:cNvPr id="15" name="Text 11"/>
          <p:cNvSpPr/>
          <p:nvPr/>
        </p:nvSpPr>
        <p:spPr>
          <a:xfrm>
            <a:off x="8028432" y="2907792"/>
            <a:ext cx="3383280" cy="594360"/>
          </a:xfrm>
          <a:prstGeom prst="rect">
            <a:avLst/>
          </a:prstGeom>
          <a:noFill/>
          <a:ln/>
        </p:spPr>
        <p:txBody>
          <a:bodyPr wrap="square" rtlCol="0" anchor="ctr"/>
          <a:lstStyle/>
          <a:p>
            <a:pPr indent="0" marL="0">
              <a:lnSpc>
                <a:spcPts val="1350"/>
              </a:lnSpc>
              <a:buNone/>
            </a:pPr>
            <a:r>
              <a:rPr lang="en-US" sz="1080" dirty="0">
                <a:solidFill>
                  <a:srgbClr val="6B7280"/>
                </a:solidFill>
                <a:latin typeface="Calibri" pitchFamily="34" charset="0"/>
                <a:ea typeface="Calibri" pitchFamily="34" charset="-122"/>
                <a:cs typeface="Calibri" pitchFamily="34" charset="-120"/>
              </a:rPr>
              <a:t>Grievances are sorted and routed to the right department automatically</a:t>
            </a:r>
            <a:endParaRPr lang="en-US" sz="1080" dirty="0"/>
          </a:p>
        </p:txBody>
      </p:sp>
      <p:sp>
        <p:nvSpPr>
          <p:cNvPr id="16" name="Shape 12"/>
          <p:cNvSpPr/>
          <p:nvPr/>
        </p:nvSpPr>
        <p:spPr>
          <a:xfrm>
            <a:off x="7406640" y="3767328"/>
            <a:ext cx="457200" cy="457200"/>
          </a:xfrm>
          <a:prstGeom prst="ellipse">
            <a:avLst/>
          </a:prstGeom>
          <a:solidFill>
            <a:srgbClr val="1E2761"/>
          </a:solidFill>
          <a:ln/>
        </p:spPr>
      </p:sp>
      <p:pic>
        <p:nvPicPr>
          <p:cNvPr id="17" name="Image 2" descr="/home/claude/ppt/icons/chart_FFFFFF.png">    </p:cNvPr>
          <p:cNvPicPr>
            <a:picLocks noChangeAspect="1"/>
          </p:cNvPicPr>
          <p:nvPr/>
        </p:nvPicPr>
        <p:blipFill>
          <a:blip r:embed="rId3"/>
          <a:stretch>
            <a:fillRect/>
          </a:stretch>
        </p:blipFill>
        <p:spPr>
          <a:xfrm>
            <a:off x="7516368" y="3877056"/>
            <a:ext cx="237744" cy="237744"/>
          </a:xfrm>
          <a:prstGeom prst="rect">
            <a:avLst/>
          </a:prstGeom>
        </p:spPr>
      </p:pic>
      <p:sp>
        <p:nvSpPr>
          <p:cNvPr id="18" name="Text 13"/>
          <p:cNvSpPr/>
          <p:nvPr/>
        </p:nvSpPr>
        <p:spPr>
          <a:xfrm>
            <a:off x="8028432" y="3712464"/>
            <a:ext cx="3337560" cy="292608"/>
          </a:xfrm>
          <a:prstGeom prst="rect">
            <a:avLst/>
          </a:prstGeom>
          <a:noFill/>
          <a:ln/>
        </p:spPr>
        <p:txBody>
          <a:bodyPr wrap="square" rtlCol="0" anchor="ctr"/>
          <a:lstStyle/>
          <a:p>
            <a:pPr indent="0" marL="0">
              <a:buNone/>
            </a:pPr>
            <a:r>
              <a:rPr lang="en-US" sz="1300" b="1" dirty="0">
                <a:solidFill>
                  <a:srgbClr val="23262F"/>
                </a:solidFill>
                <a:latin typeface="Calibri" pitchFamily="34" charset="0"/>
                <a:ea typeface="Calibri" pitchFamily="34" charset="-122"/>
                <a:cs typeface="Calibri" pitchFamily="34" charset="-120"/>
              </a:rPr>
              <a:t>Priority-Based Assignment</a:t>
            </a:r>
            <a:endParaRPr lang="en-US" sz="1300" dirty="0"/>
          </a:p>
        </p:txBody>
      </p:sp>
      <p:sp>
        <p:nvSpPr>
          <p:cNvPr id="19" name="Text 14"/>
          <p:cNvSpPr/>
          <p:nvPr/>
        </p:nvSpPr>
        <p:spPr>
          <a:xfrm>
            <a:off x="8028432" y="4005072"/>
            <a:ext cx="3383280" cy="594360"/>
          </a:xfrm>
          <a:prstGeom prst="rect">
            <a:avLst/>
          </a:prstGeom>
          <a:noFill/>
          <a:ln/>
        </p:spPr>
        <p:txBody>
          <a:bodyPr wrap="square" rtlCol="0" anchor="ctr"/>
          <a:lstStyle/>
          <a:p>
            <a:pPr indent="0" marL="0">
              <a:lnSpc>
                <a:spcPts val="1350"/>
              </a:lnSpc>
              <a:buNone/>
            </a:pPr>
            <a:r>
              <a:rPr lang="en-US" sz="1080" dirty="0">
                <a:solidFill>
                  <a:srgbClr val="6B7280"/>
                </a:solidFill>
                <a:latin typeface="Calibri" pitchFamily="34" charset="0"/>
                <a:ea typeface="Calibri" pitchFamily="34" charset="-122"/>
                <a:cs typeface="Calibri" pitchFamily="34" charset="-120"/>
              </a:rPr>
              <a:t>Urgent issues are flagged and surfaced ahead of routine ones</a:t>
            </a:r>
            <a:endParaRPr lang="en-US" sz="1080" dirty="0"/>
          </a:p>
        </p:txBody>
      </p:sp>
      <p:sp>
        <p:nvSpPr>
          <p:cNvPr id="20" name="Shape 15"/>
          <p:cNvSpPr/>
          <p:nvPr/>
        </p:nvSpPr>
        <p:spPr>
          <a:xfrm>
            <a:off x="7406640" y="4864608"/>
            <a:ext cx="457200" cy="457200"/>
          </a:xfrm>
          <a:prstGeom prst="ellipse">
            <a:avLst/>
          </a:prstGeom>
          <a:solidFill>
            <a:srgbClr val="1E2761"/>
          </a:solidFill>
          <a:ln/>
        </p:spPr>
      </p:sp>
      <p:pic>
        <p:nvPicPr>
          <p:cNvPr id="21" name="Image 3" descr="/home/claude/ppt/icons/shield_FFFFFF.png">    </p:cNvPr>
          <p:cNvPicPr>
            <a:picLocks noChangeAspect="1"/>
          </p:cNvPicPr>
          <p:nvPr/>
        </p:nvPicPr>
        <p:blipFill>
          <a:blip r:embed="rId4"/>
          <a:stretch>
            <a:fillRect/>
          </a:stretch>
        </p:blipFill>
        <p:spPr>
          <a:xfrm>
            <a:off x="7516368" y="4974336"/>
            <a:ext cx="237744" cy="237744"/>
          </a:xfrm>
          <a:prstGeom prst="rect">
            <a:avLst/>
          </a:prstGeom>
        </p:spPr>
      </p:pic>
      <p:sp>
        <p:nvSpPr>
          <p:cNvPr id="22" name="Text 16"/>
          <p:cNvSpPr/>
          <p:nvPr/>
        </p:nvSpPr>
        <p:spPr>
          <a:xfrm>
            <a:off x="8028432" y="4809744"/>
            <a:ext cx="3337560" cy="292608"/>
          </a:xfrm>
          <a:prstGeom prst="rect">
            <a:avLst/>
          </a:prstGeom>
          <a:noFill/>
          <a:ln/>
        </p:spPr>
        <p:txBody>
          <a:bodyPr wrap="square" rtlCol="0" anchor="ctr"/>
          <a:lstStyle/>
          <a:p>
            <a:pPr indent="0" marL="0">
              <a:buNone/>
            </a:pPr>
            <a:r>
              <a:rPr lang="en-US" sz="1300" b="1" dirty="0">
                <a:solidFill>
                  <a:srgbClr val="23262F"/>
                </a:solidFill>
                <a:latin typeface="Calibri" pitchFamily="34" charset="0"/>
                <a:ea typeface="Calibri" pitchFamily="34" charset="-122"/>
                <a:cs typeface="Calibri" pitchFamily="34" charset="-120"/>
              </a:rPr>
              <a:t>Role-Based Access</a:t>
            </a:r>
            <a:endParaRPr lang="en-US" sz="1300" dirty="0"/>
          </a:p>
        </p:txBody>
      </p:sp>
      <p:sp>
        <p:nvSpPr>
          <p:cNvPr id="23" name="Text 17"/>
          <p:cNvSpPr/>
          <p:nvPr/>
        </p:nvSpPr>
        <p:spPr>
          <a:xfrm>
            <a:off x="8028432" y="5102352"/>
            <a:ext cx="3383280" cy="594360"/>
          </a:xfrm>
          <a:prstGeom prst="rect">
            <a:avLst/>
          </a:prstGeom>
          <a:noFill/>
          <a:ln/>
        </p:spPr>
        <p:txBody>
          <a:bodyPr wrap="square" rtlCol="0" anchor="ctr"/>
          <a:lstStyle/>
          <a:p>
            <a:pPr indent="0" marL="0">
              <a:lnSpc>
                <a:spcPts val="1350"/>
              </a:lnSpc>
              <a:buNone/>
            </a:pPr>
            <a:r>
              <a:rPr lang="en-US" sz="1080" dirty="0">
                <a:solidFill>
                  <a:srgbClr val="6B7280"/>
                </a:solidFill>
                <a:latin typeface="Calibri" pitchFamily="34" charset="0"/>
                <a:ea typeface="Calibri" pitchFamily="34" charset="-122"/>
                <a:cs typeface="Calibri" pitchFamily="34" charset="-120"/>
              </a:rPr>
              <a:t>Students, faculty, staff, and admins each get a secure, scoped view</a:t>
            </a:r>
            <a:endParaRPr lang="en-US" sz="1080" dirty="0"/>
          </a:p>
        </p:txBody>
      </p:sp>
      <p:sp>
        <p:nvSpPr>
          <p:cNvPr id="24" name="Text 1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PROBLEM STATEMENT</a:t>
            </a:r>
            <a:endParaRPr lang="en-US" sz="1300" dirty="0"/>
          </a:p>
        </p:txBody>
      </p:sp>
      <p:sp>
        <p:nvSpPr>
          <p:cNvPr id="3" name="Text 1"/>
          <p:cNvSpPr/>
          <p:nvPr/>
        </p:nvSpPr>
        <p:spPr>
          <a:xfrm>
            <a:off x="640080" y="777240"/>
            <a:ext cx="9601200" cy="548640"/>
          </a:xfrm>
          <a:prstGeom prst="rect">
            <a:avLst/>
          </a:prstGeom>
          <a:noFill/>
          <a:ln/>
        </p:spPr>
        <p:txBody>
          <a:bodyPr wrap="square" rtlCol="0" anchor="ctr"/>
          <a:lstStyle/>
          <a:p>
            <a:pPr indent="0" marL="0">
              <a:buNone/>
            </a:pPr>
            <a:r>
              <a:rPr lang="en-US" sz="2800" b="1" dirty="0">
                <a:solidFill>
                  <a:srgbClr val="23262F"/>
                </a:solidFill>
                <a:latin typeface="Cambria" pitchFamily="34" charset="0"/>
                <a:ea typeface="Cambria" pitchFamily="34" charset="-122"/>
                <a:cs typeface="Cambria" pitchFamily="34" charset="-120"/>
              </a:rPr>
              <a:t>Why Traditional Grievance Handling Fails</a:t>
            </a:r>
            <a:endParaRPr lang="en-US" sz="2800" dirty="0"/>
          </a:p>
        </p:txBody>
      </p:sp>
      <p:sp>
        <p:nvSpPr>
          <p:cNvPr id="4" name="Shape 2"/>
          <p:cNvSpPr/>
          <p:nvPr/>
        </p:nvSpPr>
        <p:spPr>
          <a:xfrm>
            <a:off x="640080" y="1481328"/>
            <a:ext cx="6035040" cy="10973"/>
          </a:xfrm>
          <a:prstGeom prst="rect">
            <a:avLst/>
          </a:prstGeom>
          <a:solidFill>
            <a:srgbClr val="CADCFC"/>
          </a:solidFill>
          <a:ln/>
        </p:spPr>
      </p:sp>
      <p:sp>
        <p:nvSpPr>
          <p:cNvPr id="5" name="Text 3"/>
          <p:cNvSpPr/>
          <p:nvPr/>
        </p:nvSpPr>
        <p:spPr>
          <a:xfrm>
            <a:off x="640080" y="1691640"/>
            <a:ext cx="10789920" cy="640080"/>
          </a:xfrm>
          <a:prstGeom prst="rect">
            <a:avLst/>
          </a:prstGeom>
          <a:noFill/>
          <a:ln/>
        </p:spPr>
        <p:txBody>
          <a:bodyPr wrap="square" rtlCol="0" anchor="ctr"/>
          <a:lstStyle/>
          <a:p>
            <a:pPr indent="0" marL="0">
              <a:lnSpc>
                <a:spcPts val="2000"/>
              </a:lnSpc>
              <a:buNone/>
            </a:pPr>
            <a:r>
              <a:rPr lang="en-US" sz="1400" dirty="0">
                <a:solidFill>
                  <a:srgbClr val="6B7280"/>
                </a:solidFill>
                <a:latin typeface="Calibri" pitchFamily="34" charset="0"/>
                <a:ea typeface="Calibri" pitchFamily="34" charset="-122"/>
                <a:cs typeface="Calibri" pitchFamily="34" charset="-120"/>
              </a:rPr>
              <a:t>Institutions today largely rely on manual complaints and lengthy, informal communication chains — a process that is slow, opaque, and difficult to hold accountable.</a:t>
            </a:r>
            <a:endParaRPr lang="en-US" sz="1400" dirty="0"/>
          </a:p>
        </p:txBody>
      </p:sp>
      <p:sp>
        <p:nvSpPr>
          <p:cNvPr id="6" name="Shape 4"/>
          <p:cNvSpPr/>
          <p:nvPr/>
        </p:nvSpPr>
        <p:spPr>
          <a:xfrm>
            <a:off x="640080" y="2606040"/>
            <a:ext cx="2542032" cy="3291840"/>
          </a:xfrm>
          <a:prstGeom prst="roundRect">
            <a:avLst>
              <a:gd name="adj" fmla="val 3597"/>
            </a:avLst>
          </a:prstGeom>
          <a:solidFill>
            <a:srgbClr val="F6F8FD"/>
          </a:solidFill>
          <a:ln/>
        </p:spPr>
      </p:sp>
      <p:sp>
        <p:nvSpPr>
          <p:cNvPr id="7" name="Shape 5"/>
          <p:cNvSpPr/>
          <p:nvPr/>
        </p:nvSpPr>
        <p:spPr>
          <a:xfrm>
            <a:off x="896112" y="2880360"/>
            <a:ext cx="548640" cy="548640"/>
          </a:xfrm>
          <a:prstGeom prst="ellipse">
            <a:avLst/>
          </a:prstGeom>
          <a:solidFill>
            <a:srgbClr val="1E2761"/>
          </a:solidFill>
          <a:ln/>
        </p:spPr>
      </p:sp>
      <p:pic>
        <p:nvPicPr>
          <p:cNvPr id="8" name="Image 0" descr="/home/claude/ppt/icons/warning_FFFFFF.png">    </p:cNvPr>
          <p:cNvPicPr>
            <a:picLocks noChangeAspect="1"/>
          </p:cNvPicPr>
          <p:nvPr/>
        </p:nvPicPr>
        <p:blipFill>
          <a:blip r:embed="rId1"/>
          <a:stretch>
            <a:fillRect/>
          </a:stretch>
        </p:blipFill>
        <p:spPr>
          <a:xfrm>
            <a:off x="1042416" y="3026664"/>
            <a:ext cx="256032" cy="256032"/>
          </a:xfrm>
          <a:prstGeom prst="rect">
            <a:avLst/>
          </a:prstGeom>
        </p:spPr>
      </p:pic>
      <p:sp>
        <p:nvSpPr>
          <p:cNvPr id="9" name="Text 6"/>
          <p:cNvSpPr/>
          <p:nvPr/>
        </p:nvSpPr>
        <p:spPr>
          <a:xfrm>
            <a:off x="868680" y="3657600"/>
            <a:ext cx="2084832" cy="685800"/>
          </a:xfrm>
          <a:prstGeom prst="rect">
            <a:avLst/>
          </a:prstGeom>
          <a:noFill/>
          <a:ln/>
        </p:spPr>
        <p:txBody>
          <a:bodyPr wrap="square" rtlCol="0" anchor="ctr"/>
          <a:lstStyle/>
          <a:p>
            <a:pPr indent="0" marL="0">
              <a:lnSpc>
                <a:spcPts val="1700"/>
              </a:lnSpc>
              <a:buNone/>
            </a:pPr>
            <a:r>
              <a:rPr lang="en-US" sz="1400" b="1" dirty="0">
                <a:solidFill>
                  <a:srgbClr val="23262F"/>
                </a:solidFill>
                <a:latin typeface="Calibri" pitchFamily="34" charset="0"/>
                <a:ea typeface="Calibri" pitchFamily="34" charset="-122"/>
                <a:cs typeface="Calibri" pitchFamily="34" charset="-120"/>
              </a:rPr>
              <a:t>No Real-Time Visibility</a:t>
            </a:r>
            <a:endParaRPr lang="en-US" sz="1400" dirty="0"/>
          </a:p>
        </p:txBody>
      </p:sp>
      <p:sp>
        <p:nvSpPr>
          <p:cNvPr id="10" name="Text 7"/>
          <p:cNvSpPr/>
          <p:nvPr/>
        </p:nvSpPr>
        <p:spPr>
          <a:xfrm>
            <a:off x="868680" y="4389120"/>
            <a:ext cx="2084832" cy="1371600"/>
          </a:xfrm>
          <a:prstGeom prst="rect">
            <a:avLst/>
          </a:prstGeom>
          <a:noFill/>
          <a:ln/>
        </p:spPr>
        <p:txBody>
          <a:bodyPr wrap="square"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Complainants have no way to track status or progress of their submitted grievances.</a:t>
            </a:r>
            <a:endParaRPr lang="en-US" sz="1150" dirty="0"/>
          </a:p>
        </p:txBody>
      </p:sp>
      <p:sp>
        <p:nvSpPr>
          <p:cNvPr id="11" name="Shape 8"/>
          <p:cNvSpPr/>
          <p:nvPr/>
        </p:nvSpPr>
        <p:spPr>
          <a:xfrm>
            <a:off x="3410712" y="2606040"/>
            <a:ext cx="2542032" cy="3291840"/>
          </a:xfrm>
          <a:prstGeom prst="roundRect">
            <a:avLst>
              <a:gd name="adj" fmla="val 3597"/>
            </a:avLst>
          </a:prstGeom>
          <a:solidFill>
            <a:srgbClr val="F6F8FD"/>
          </a:solidFill>
          <a:ln/>
        </p:spPr>
      </p:sp>
      <p:sp>
        <p:nvSpPr>
          <p:cNvPr id="12" name="Shape 9"/>
          <p:cNvSpPr/>
          <p:nvPr/>
        </p:nvSpPr>
        <p:spPr>
          <a:xfrm>
            <a:off x="3666744" y="2880360"/>
            <a:ext cx="548640" cy="548640"/>
          </a:xfrm>
          <a:prstGeom prst="ellipse">
            <a:avLst/>
          </a:prstGeom>
          <a:solidFill>
            <a:srgbClr val="1E2761"/>
          </a:solidFill>
          <a:ln/>
        </p:spPr>
      </p:sp>
      <p:pic>
        <p:nvPicPr>
          <p:cNvPr id="13" name="Image 1" descr="/home/claude/ppt/icons/clock_FFFFFF.png">    </p:cNvPr>
          <p:cNvPicPr>
            <a:picLocks noChangeAspect="1"/>
          </p:cNvPicPr>
          <p:nvPr/>
        </p:nvPicPr>
        <p:blipFill>
          <a:blip r:embed="rId2"/>
          <a:stretch>
            <a:fillRect/>
          </a:stretch>
        </p:blipFill>
        <p:spPr>
          <a:xfrm>
            <a:off x="3813048" y="3026664"/>
            <a:ext cx="256032" cy="256032"/>
          </a:xfrm>
          <a:prstGeom prst="rect">
            <a:avLst/>
          </a:prstGeom>
        </p:spPr>
      </p:pic>
      <p:sp>
        <p:nvSpPr>
          <p:cNvPr id="14" name="Text 10"/>
          <p:cNvSpPr/>
          <p:nvPr/>
        </p:nvSpPr>
        <p:spPr>
          <a:xfrm>
            <a:off x="3639312" y="3657600"/>
            <a:ext cx="2084832" cy="685800"/>
          </a:xfrm>
          <a:prstGeom prst="rect">
            <a:avLst/>
          </a:prstGeom>
          <a:noFill/>
          <a:ln/>
        </p:spPr>
        <p:txBody>
          <a:bodyPr wrap="square" rtlCol="0" anchor="ctr"/>
          <a:lstStyle/>
          <a:p>
            <a:pPr indent="0" marL="0">
              <a:lnSpc>
                <a:spcPts val="1700"/>
              </a:lnSpc>
              <a:buNone/>
            </a:pPr>
            <a:r>
              <a:rPr lang="en-US" sz="1400" b="1" dirty="0">
                <a:solidFill>
                  <a:srgbClr val="23262F"/>
                </a:solidFill>
                <a:latin typeface="Calibri" pitchFamily="34" charset="0"/>
                <a:ea typeface="Calibri" pitchFamily="34" charset="-122"/>
                <a:cs typeface="Calibri" pitchFamily="34" charset="-120"/>
              </a:rPr>
              <a:t>Slow, Manual Processing</a:t>
            </a:r>
            <a:endParaRPr lang="en-US" sz="1400" dirty="0"/>
          </a:p>
        </p:txBody>
      </p:sp>
      <p:sp>
        <p:nvSpPr>
          <p:cNvPr id="15" name="Text 11"/>
          <p:cNvSpPr/>
          <p:nvPr/>
        </p:nvSpPr>
        <p:spPr>
          <a:xfrm>
            <a:off x="3639312" y="4389120"/>
            <a:ext cx="2084832" cy="1371600"/>
          </a:xfrm>
          <a:prstGeom prst="rect">
            <a:avLst/>
          </a:prstGeom>
          <a:noFill/>
          <a:ln/>
        </p:spPr>
        <p:txBody>
          <a:bodyPr wrap="square"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Paper trails and informal emails cause long delays before issues are even reviewed.</a:t>
            </a:r>
            <a:endParaRPr lang="en-US" sz="1150" dirty="0"/>
          </a:p>
        </p:txBody>
      </p:sp>
      <p:sp>
        <p:nvSpPr>
          <p:cNvPr id="16" name="Shape 12"/>
          <p:cNvSpPr/>
          <p:nvPr/>
        </p:nvSpPr>
        <p:spPr>
          <a:xfrm>
            <a:off x="6181344" y="2606040"/>
            <a:ext cx="2542032" cy="3291840"/>
          </a:xfrm>
          <a:prstGeom prst="roundRect">
            <a:avLst>
              <a:gd name="adj" fmla="val 3597"/>
            </a:avLst>
          </a:prstGeom>
          <a:solidFill>
            <a:srgbClr val="F6F8FD"/>
          </a:solidFill>
          <a:ln/>
        </p:spPr>
      </p:sp>
      <p:sp>
        <p:nvSpPr>
          <p:cNvPr id="17" name="Shape 13"/>
          <p:cNvSpPr/>
          <p:nvPr/>
        </p:nvSpPr>
        <p:spPr>
          <a:xfrm>
            <a:off x="6437376" y="2880360"/>
            <a:ext cx="548640" cy="548640"/>
          </a:xfrm>
          <a:prstGeom prst="ellipse">
            <a:avLst/>
          </a:prstGeom>
          <a:solidFill>
            <a:srgbClr val="1E2761"/>
          </a:solidFill>
          <a:ln/>
        </p:spPr>
      </p:sp>
      <p:pic>
        <p:nvPicPr>
          <p:cNvPr id="18" name="Image 2" descr="/home/claude/ppt/icons/route_FFFFFF.png">    </p:cNvPr>
          <p:cNvPicPr>
            <a:picLocks noChangeAspect="1"/>
          </p:cNvPicPr>
          <p:nvPr/>
        </p:nvPicPr>
        <p:blipFill>
          <a:blip r:embed="rId3"/>
          <a:stretch>
            <a:fillRect/>
          </a:stretch>
        </p:blipFill>
        <p:spPr>
          <a:xfrm>
            <a:off x="6583680" y="3026664"/>
            <a:ext cx="256032" cy="256032"/>
          </a:xfrm>
          <a:prstGeom prst="rect">
            <a:avLst/>
          </a:prstGeom>
        </p:spPr>
      </p:pic>
      <p:sp>
        <p:nvSpPr>
          <p:cNvPr id="19" name="Text 14"/>
          <p:cNvSpPr/>
          <p:nvPr/>
        </p:nvSpPr>
        <p:spPr>
          <a:xfrm>
            <a:off x="6409944" y="3657600"/>
            <a:ext cx="2084832" cy="685800"/>
          </a:xfrm>
          <a:prstGeom prst="rect">
            <a:avLst/>
          </a:prstGeom>
          <a:noFill/>
          <a:ln/>
        </p:spPr>
        <p:txBody>
          <a:bodyPr wrap="square" rtlCol="0" anchor="ctr"/>
          <a:lstStyle/>
          <a:p>
            <a:pPr indent="0" marL="0">
              <a:lnSpc>
                <a:spcPts val="1700"/>
              </a:lnSpc>
              <a:buNone/>
            </a:pPr>
            <a:r>
              <a:rPr lang="en-US" sz="1400" b="1" dirty="0">
                <a:solidFill>
                  <a:srgbClr val="23262F"/>
                </a:solidFill>
                <a:latin typeface="Calibri" pitchFamily="34" charset="0"/>
                <a:ea typeface="Calibri" pitchFamily="34" charset="-122"/>
                <a:cs typeface="Calibri" pitchFamily="34" charset="-120"/>
              </a:rPr>
              <a:t>Poor Routing &amp; Assignment</a:t>
            </a:r>
            <a:endParaRPr lang="en-US" sz="1400" dirty="0"/>
          </a:p>
        </p:txBody>
      </p:sp>
      <p:sp>
        <p:nvSpPr>
          <p:cNvPr id="20" name="Text 15"/>
          <p:cNvSpPr/>
          <p:nvPr/>
        </p:nvSpPr>
        <p:spPr>
          <a:xfrm>
            <a:off x="6409944" y="4389120"/>
            <a:ext cx="2084832" cy="1371600"/>
          </a:xfrm>
          <a:prstGeom prst="rect">
            <a:avLst/>
          </a:prstGeom>
          <a:noFill/>
          <a:ln/>
        </p:spPr>
        <p:txBody>
          <a:bodyPr wrap="square"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Grievances are not automatically categorized, so they often reach the wrong department.</a:t>
            </a:r>
            <a:endParaRPr lang="en-US" sz="1150" dirty="0"/>
          </a:p>
        </p:txBody>
      </p:sp>
      <p:sp>
        <p:nvSpPr>
          <p:cNvPr id="21" name="Shape 16"/>
          <p:cNvSpPr/>
          <p:nvPr/>
        </p:nvSpPr>
        <p:spPr>
          <a:xfrm>
            <a:off x="8951976" y="2606040"/>
            <a:ext cx="2542032" cy="3291840"/>
          </a:xfrm>
          <a:prstGeom prst="roundRect">
            <a:avLst>
              <a:gd name="adj" fmla="val 3597"/>
            </a:avLst>
          </a:prstGeom>
          <a:solidFill>
            <a:srgbClr val="F6F8FD"/>
          </a:solidFill>
          <a:ln/>
        </p:spPr>
      </p:sp>
      <p:sp>
        <p:nvSpPr>
          <p:cNvPr id="22" name="Shape 17"/>
          <p:cNvSpPr/>
          <p:nvPr/>
        </p:nvSpPr>
        <p:spPr>
          <a:xfrm>
            <a:off x="9208008" y="2880360"/>
            <a:ext cx="548640" cy="548640"/>
          </a:xfrm>
          <a:prstGeom prst="ellipse">
            <a:avLst/>
          </a:prstGeom>
          <a:solidFill>
            <a:srgbClr val="1E2761"/>
          </a:solidFill>
          <a:ln/>
        </p:spPr>
      </p:sp>
      <p:pic>
        <p:nvPicPr>
          <p:cNvPr id="23" name="Image 3" descr="/home/claude/ppt/icons/shieldAlt_FFFFFF.png">    </p:cNvPr>
          <p:cNvPicPr>
            <a:picLocks noChangeAspect="1"/>
          </p:cNvPicPr>
          <p:nvPr/>
        </p:nvPicPr>
        <p:blipFill>
          <a:blip r:embed="rId4"/>
          <a:stretch>
            <a:fillRect/>
          </a:stretch>
        </p:blipFill>
        <p:spPr>
          <a:xfrm>
            <a:off x="9354312" y="3026664"/>
            <a:ext cx="256032" cy="256032"/>
          </a:xfrm>
          <a:prstGeom prst="rect">
            <a:avLst/>
          </a:prstGeom>
        </p:spPr>
      </p:pic>
      <p:sp>
        <p:nvSpPr>
          <p:cNvPr id="24" name="Text 18"/>
          <p:cNvSpPr/>
          <p:nvPr/>
        </p:nvSpPr>
        <p:spPr>
          <a:xfrm>
            <a:off x="9180576" y="3657600"/>
            <a:ext cx="2084832" cy="685800"/>
          </a:xfrm>
          <a:prstGeom prst="rect">
            <a:avLst/>
          </a:prstGeom>
          <a:noFill/>
          <a:ln/>
        </p:spPr>
        <p:txBody>
          <a:bodyPr wrap="square" rtlCol="0" anchor="ctr"/>
          <a:lstStyle/>
          <a:p>
            <a:pPr indent="0" marL="0">
              <a:lnSpc>
                <a:spcPts val="1700"/>
              </a:lnSpc>
              <a:buNone/>
            </a:pPr>
            <a:r>
              <a:rPr lang="en-US" sz="1400" b="1" dirty="0">
                <a:solidFill>
                  <a:srgbClr val="23262F"/>
                </a:solidFill>
                <a:latin typeface="Calibri" pitchFamily="34" charset="0"/>
                <a:ea typeface="Calibri" pitchFamily="34" charset="-122"/>
                <a:cs typeface="Calibri" pitchFamily="34" charset="-120"/>
              </a:rPr>
              <a:t>Limited Accountability</a:t>
            </a:r>
            <a:endParaRPr lang="en-US" sz="1400" dirty="0"/>
          </a:p>
        </p:txBody>
      </p:sp>
      <p:sp>
        <p:nvSpPr>
          <p:cNvPr id="25" name="Text 19"/>
          <p:cNvSpPr/>
          <p:nvPr/>
        </p:nvSpPr>
        <p:spPr>
          <a:xfrm>
            <a:off x="9180576" y="4389120"/>
            <a:ext cx="2084832" cy="1371600"/>
          </a:xfrm>
          <a:prstGeom prst="rect">
            <a:avLst/>
          </a:prstGeom>
          <a:noFill/>
          <a:ln/>
        </p:spPr>
        <p:txBody>
          <a:bodyPr wrap="square" rtlCol="0" anchor="ctr"/>
          <a:lstStyle/>
          <a:p>
            <a:pPr indent="0" marL="0">
              <a:lnSpc>
                <a:spcPts val="1500"/>
              </a:lnSpc>
              <a:buNone/>
            </a:pPr>
            <a:r>
              <a:rPr lang="en-US" sz="1150" dirty="0">
                <a:solidFill>
                  <a:srgbClr val="6B7280"/>
                </a:solidFill>
                <a:latin typeface="Calibri" pitchFamily="34" charset="0"/>
                <a:ea typeface="Calibri" pitchFamily="34" charset="-122"/>
                <a:cs typeface="Calibri" pitchFamily="34" charset="-120"/>
              </a:rPr>
              <a:t>Without structured records, resolution timelines and ownership are hard to enforce.</a:t>
            </a:r>
            <a:endParaRPr lang="en-US" sz="1150" dirty="0"/>
          </a:p>
        </p:txBody>
      </p:sp>
      <p:sp>
        <p:nvSpPr>
          <p:cNvPr id="26" name="Text 2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PROPOSED SOLUTION</a:t>
            </a:r>
            <a:endParaRPr lang="en-US" sz="1300" dirty="0"/>
          </a:p>
        </p:txBody>
      </p:sp>
      <p:sp>
        <p:nvSpPr>
          <p:cNvPr id="3" name="Text 1"/>
          <p:cNvSpPr/>
          <p:nvPr/>
        </p:nvSpPr>
        <p:spPr>
          <a:xfrm>
            <a:off x="640080" y="777240"/>
            <a:ext cx="8686800" cy="548640"/>
          </a:xfrm>
          <a:prstGeom prst="rect">
            <a:avLst/>
          </a:prstGeom>
          <a:noFill/>
          <a:ln/>
        </p:spPr>
        <p:txBody>
          <a:bodyPr wrap="square" rtlCol="0" anchor="ctr"/>
          <a:lstStyle/>
          <a:p>
            <a:pPr indent="0" marL="0">
              <a:buNone/>
            </a:pPr>
            <a:r>
              <a:rPr lang="en-US" sz="2800" b="1" dirty="0">
                <a:solidFill>
                  <a:srgbClr val="23262F"/>
                </a:solidFill>
                <a:latin typeface="Cambria" pitchFamily="34" charset="0"/>
                <a:ea typeface="Cambria" pitchFamily="34" charset="-122"/>
                <a:cs typeface="Cambria" pitchFamily="34" charset="-120"/>
              </a:rPr>
              <a:t>A Smart, Scalable Platform</a:t>
            </a:r>
            <a:endParaRPr lang="en-US" sz="2800" dirty="0"/>
          </a:p>
        </p:txBody>
      </p:sp>
      <p:sp>
        <p:nvSpPr>
          <p:cNvPr id="4" name="Shape 2"/>
          <p:cNvSpPr/>
          <p:nvPr/>
        </p:nvSpPr>
        <p:spPr>
          <a:xfrm>
            <a:off x="640080" y="1481328"/>
            <a:ext cx="6035040" cy="10973"/>
          </a:xfrm>
          <a:prstGeom prst="rect">
            <a:avLst/>
          </a:prstGeom>
          <a:solidFill>
            <a:srgbClr val="CADCFC"/>
          </a:solidFill>
          <a:ln/>
        </p:spPr>
      </p:sp>
      <p:sp>
        <p:nvSpPr>
          <p:cNvPr id="5" name="Shape 3"/>
          <p:cNvSpPr/>
          <p:nvPr/>
        </p:nvSpPr>
        <p:spPr>
          <a:xfrm>
            <a:off x="640080" y="1965960"/>
            <a:ext cx="3520440" cy="2148840"/>
          </a:xfrm>
          <a:prstGeom prst="roundRect">
            <a:avLst>
              <a:gd name="adj" fmla="val 4255"/>
            </a:avLst>
          </a:prstGeom>
          <a:solidFill>
            <a:srgbClr val="F6F8FD"/>
          </a:solidFill>
          <a:ln/>
        </p:spPr>
      </p:sp>
      <p:sp>
        <p:nvSpPr>
          <p:cNvPr id="6" name="Shape 4"/>
          <p:cNvSpPr/>
          <p:nvPr/>
        </p:nvSpPr>
        <p:spPr>
          <a:xfrm>
            <a:off x="868680" y="2194560"/>
            <a:ext cx="457200" cy="457200"/>
          </a:xfrm>
          <a:prstGeom prst="ellipse">
            <a:avLst/>
          </a:prstGeom>
          <a:solidFill>
            <a:srgbClr val="1E2761"/>
          </a:solidFill>
          <a:ln/>
        </p:spPr>
      </p:sp>
      <p:pic>
        <p:nvPicPr>
          <p:cNvPr id="7" name="Image 0" descr="/home/claude/ppt/icons/react_FFFFFF.png">    </p:cNvPr>
          <p:cNvPicPr>
            <a:picLocks noChangeAspect="1"/>
          </p:cNvPicPr>
          <p:nvPr/>
        </p:nvPicPr>
        <p:blipFill>
          <a:blip r:embed="rId1"/>
          <a:stretch>
            <a:fillRect/>
          </a:stretch>
        </p:blipFill>
        <p:spPr>
          <a:xfrm>
            <a:off x="978408" y="2304288"/>
            <a:ext cx="237744" cy="237744"/>
          </a:xfrm>
          <a:prstGeom prst="rect">
            <a:avLst/>
          </a:prstGeom>
        </p:spPr>
      </p:pic>
      <p:sp>
        <p:nvSpPr>
          <p:cNvPr id="8" name="Text 5"/>
          <p:cNvSpPr/>
          <p:nvPr/>
        </p:nvSpPr>
        <p:spPr>
          <a:xfrm>
            <a:off x="868680" y="278892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React JS Frontend</a:t>
            </a:r>
            <a:endParaRPr lang="en-US" sz="1350" dirty="0"/>
          </a:p>
        </p:txBody>
      </p:sp>
      <p:sp>
        <p:nvSpPr>
          <p:cNvPr id="9" name="Text 6"/>
          <p:cNvSpPr/>
          <p:nvPr/>
        </p:nvSpPr>
        <p:spPr>
          <a:xfrm>
            <a:off x="868680" y="313639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A fast, responsive single-page interface for submitting and tracking grievances.</a:t>
            </a:r>
            <a:endParaRPr lang="en-US" sz="1100" dirty="0"/>
          </a:p>
        </p:txBody>
      </p:sp>
      <p:sp>
        <p:nvSpPr>
          <p:cNvPr id="10" name="Shape 7"/>
          <p:cNvSpPr/>
          <p:nvPr/>
        </p:nvSpPr>
        <p:spPr>
          <a:xfrm>
            <a:off x="4389120" y="1965960"/>
            <a:ext cx="3520440" cy="2148840"/>
          </a:xfrm>
          <a:prstGeom prst="roundRect">
            <a:avLst>
              <a:gd name="adj" fmla="val 4255"/>
            </a:avLst>
          </a:prstGeom>
          <a:solidFill>
            <a:srgbClr val="F6F8FD"/>
          </a:solidFill>
          <a:ln/>
        </p:spPr>
      </p:sp>
      <p:sp>
        <p:nvSpPr>
          <p:cNvPr id="11" name="Shape 8"/>
          <p:cNvSpPr/>
          <p:nvPr/>
        </p:nvSpPr>
        <p:spPr>
          <a:xfrm>
            <a:off x="4617720" y="2194560"/>
            <a:ext cx="457200" cy="457200"/>
          </a:xfrm>
          <a:prstGeom prst="ellipse">
            <a:avLst/>
          </a:prstGeom>
          <a:solidFill>
            <a:srgbClr val="1E2761"/>
          </a:solidFill>
          <a:ln/>
        </p:spPr>
      </p:sp>
      <p:pic>
        <p:nvPicPr>
          <p:cNvPr id="12" name="Image 1" descr="/home/claude/ppt/icons/nodejs_FFFFFF.png">    </p:cNvPr>
          <p:cNvPicPr>
            <a:picLocks noChangeAspect="1"/>
          </p:cNvPicPr>
          <p:nvPr/>
        </p:nvPicPr>
        <p:blipFill>
          <a:blip r:embed="rId2"/>
          <a:stretch>
            <a:fillRect/>
          </a:stretch>
        </p:blipFill>
        <p:spPr>
          <a:xfrm>
            <a:off x="4727448" y="2304288"/>
            <a:ext cx="237744" cy="237744"/>
          </a:xfrm>
          <a:prstGeom prst="rect">
            <a:avLst/>
          </a:prstGeom>
        </p:spPr>
      </p:pic>
      <p:sp>
        <p:nvSpPr>
          <p:cNvPr id="13" name="Text 9"/>
          <p:cNvSpPr/>
          <p:nvPr/>
        </p:nvSpPr>
        <p:spPr>
          <a:xfrm>
            <a:off x="4617720" y="278892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Node.js REST Backend</a:t>
            </a:r>
            <a:endParaRPr lang="en-US" sz="1350" dirty="0"/>
          </a:p>
        </p:txBody>
      </p:sp>
      <p:sp>
        <p:nvSpPr>
          <p:cNvPr id="14" name="Text 10"/>
          <p:cNvSpPr/>
          <p:nvPr/>
        </p:nvSpPr>
        <p:spPr>
          <a:xfrm>
            <a:off x="4617720" y="313639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Express-based APIs handle authentication, business logic, and data access.</a:t>
            </a:r>
            <a:endParaRPr lang="en-US" sz="1100" dirty="0"/>
          </a:p>
        </p:txBody>
      </p:sp>
      <p:sp>
        <p:nvSpPr>
          <p:cNvPr id="15" name="Shape 11"/>
          <p:cNvSpPr/>
          <p:nvPr/>
        </p:nvSpPr>
        <p:spPr>
          <a:xfrm>
            <a:off x="8138160" y="1965960"/>
            <a:ext cx="3520440" cy="2148840"/>
          </a:xfrm>
          <a:prstGeom prst="roundRect">
            <a:avLst>
              <a:gd name="adj" fmla="val 4255"/>
            </a:avLst>
          </a:prstGeom>
          <a:solidFill>
            <a:srgbClr val="F6F8FD"/>
          </a:solidFill>
          <a:ln/>
        </p:spPr>
      </p:sp>
      <p:sp>
        <p:nvSpPr>
          <p:cNvPr id="16" name="Shape 12"/>
          <p:cNvSpPr/>
          <p:nvPr/>
        </p:nvSpPr>
        <p:spPr>
          <a:xfrm>
            <a:off x="8366760" y="2194560"/>
            <a:ext cx="457200" cy="457200"/>
          </a:xfrm>
          <a:prstGeom prst="ellipse">
            <a:avLst/>
          </a:prstGeom>
          <a:solidFill>
            <a:srgbClr val="1E2761"/>
          </a:solidFill>
          <a:ln/>
        </p:spPr>
      </p:sp>
      <p:pic>
        <p:nvPicPr>
          <p:cNvPr id="17" name="Image 2" descr="/home/claude/ppt/icons/database_FFFFFF.png">    </p:cNvPr>
          <p:cNvPicPr>
            <a:picLocks noChangeAspect="1"/>
          </p:cNvPicPr>
          <p:nvPr/>
        </p:nvPicPr>
        <p:blipFill>
          <a:blip r:embed="rId3"/>
          <a:stretch>
            <a:fillRect/>
          </a:stretch>
        </p:blipFill>
        <p:spPr>
          <a:xfrm>
            <a:off x="8476488" y="2304288"/>
            <a:ext cx="237744" cy="237744"/>
          </a:xfrm>
          <a:prstGeom prst="rect">
            <a:avLst/>
          </a:prstGeom>
        </p:spPr>
      </p:pic>
      <p:sp>
        <p:nvSpPr>
          <p:cNvPr id="18" name="Text 13"/>
          <p:cNvSpPr/>
          <p:nvPr/>
        </p:nvSpPr>
        <p:spPr>
          <a:xfrm>
            <a:off x="8366760" y="278892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MySQL Database</a:t>
            </a:r>
            <a:endParaRPr lang="en-US" sz="1350" dirty="0"/>
          </a:p>
        </p:txBody>
      </p:sp>
      <p:sp>
        <p:nvSpPr>
          <p:cNvPr id="19" name="Text 14"/>
          <p:cNvSpPr/>
          <p:nvPr/>
        </p:nvSpPr>
        <p:spPr>
          <a:xfrm>
            <a:off x="8366760" y="313639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A reliable relational database stores users, grievances, and status history.</a:t>
            </a:r>
            <a:endParaRPr lang="en-US" sz="1100" dirty="0"/>
          </a:p>
        </p:txBody>
      </p:sp>
      <p:sp>
        <p:nvSpPr>
          <p:cNvPr id="20" name="Shape 15"/>
          <p:cNvSpPr/>
          <p:nvPr/>
        </p:nvSpPr>
        <p:spPr>
          <a:xfrm>
            <a:off x="640080" y="4389120"/>
            <a:ext cx="3520440" cy="2148840"/>
          </a:xfrm>
          <a:prstGeom prst="roundRect">
            <a:avLst>
              <a:gd name="adj" fmla="val 4255"/>
            </a:avLst>
          </a:prstGeom>
          <a:solidFill>
            <a:srgbClr val="F6F8FD"/>
          </a:solidFill>
          <a:ln/>
        </p:spPr>
      </p:sp>
      <p:sp>
        <p:nvSpPr>
          <p:cNvPr id="21" name="Shape 16"/>
          <p:cNvSpPr/>
          <p:nvPr/>
        </p:nvSpPr>
        <p:spPr>
          <a:xfrm>
            <a:off x="868680" y="4617720"/>
            <a:ext cx="457200" cy="457200"/>
          </a:xfrm>
          <a:prstGeom prst="ellipse">
            <a:avLst/>
          </a:prstGeom>
          <a:solidFill>
            <a:srgbClr val="1E2761"/>
          </a:solidFill>
          <a:ln/>
        </p:spPr>
      </p:sp>
      <p:pic>
        <p:nvPicPr>
          <p:cNvPr id="22" name="Image 3" descr="/home/claude/ppt/icons/shield_FFFFFF.png">    </p:cNvPr>
          <p:cNvPicPr>
            <a:picLocks noChangeAspect="1"/>
          </p:cNvPicPr>
          <p:nvPr/>
        </p:nvPicPr>
        <p:blipFill>
          <a:blip r:embed="rId4"/>
          <a:stretch>
            <a:fillRect/>
          </a:stretch>
        </p:blipFill>
        <p:spPr>
          <a:xfrm>
            <a:off x="978408" y="4727448"/>
            <a:ext cx="237744" cy="237744"/>
          </a:xfrm>
          <a:prstGeom prst="rect">
            <a:avLst/>
          </a:prstGeom>
        </p:spPr>
      </p:pic>
      <p:sp>
        <p:nvSpPr>
          <p:cNvPr id="23" name="Text 17"/>
          <p:cNvSpPr/>
          <p:nvPr/>
        </p:nvSpPr>
        <p:spPr>
          <a:xfrm>
            <a:off x="868680" y="521208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JWT Authentication</a:t>
            </a:r>
            <a:endParaRPr lang="en-US" sz="1350" dirty="0"/>
          </a:p>
        </p:txBody>
      </p:sp>
      <p:sp>
        <p:nvSpPr>
          <p:cNvPr id="24" name="Text 18"/>
          <p:cNvSpPr/>
          <p:nvPr/>
        </p:nvSpPr>
        <p:spPr>
          <a:xfrm>
            <a:off x="868680" y="555955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Secure, token-based login keeps every session and role protected.</a:t>
            </a:r>
            <a:endParaRPr lang="en-US" sz="1100" dirty="0"/>
          </a:p>
        </p:txBody>
      </p:sp>
      <p:sp>
        <p:nvSpPr>
          <p:cNvPr id="25" name="Shape 19"/>
          <p:cNvSpPr/>
          <p:nvPr/>
        </p:nvSpPr>
        <p:spPr>
          <a:xfrm>
            <a:off x="4389120" y="4389120"/>
            <a:ext cx="3520440" cy="2148840"/>
          </a:xfrm>
          <a:prstGeom prst="roundRect">
            <a:avLst>
              <a:gd name="adj" fmla="val 4255"/>
            </a:avLst>
          </a:prstGeom>
          <a:solidFill>
            <a:srgbClr val="F6F8FD"/>
          </a:solidFill>
          <a:ln/>
        </p:spPr>
      </p:sp>
      <p:sp>
        <p:nvSpPr>
          <p:cNvPr id="26" name="Shape 20"/>
          <p:cNvSpPr/>
          <p:nvPr/>
        </p:nvSpPr>
        <p:spPr>
          <a:xfrm>
            <a:off x="4617720" y="4617720"/>
            <a:ext cx="457200" cy="457200"/>
          </a:xfrm>
          <a:prstGeom prst="ellipse">
            <a:avLst/>
          </a:prstGeom>
          <a:solidFill>
            <a:srgbClr val="1E2761"/>
          </a:solidFill>
          <a:ln/>
        </p:spPr>
      </p:sp>
      <p:pic>
        <p:nvPicPr>
          <p:cNvPr id="27" name="Image 4" descr="/home/claude/ppt/icons/bell_FFFFFF.png">    </p:cNvPr>
          <p:cNvPicPr>
            <a:picLocks noChangeAspect="1"/>
          </p:cNvPicPr>
          <p:nvPr/>
        </p:nvPicPr>
        <p:blipFill>
          <a:blip r:embed="rId5"/>
          <a:stretch>
            <a:fillRect/>
          </a:stretch>
        </p:blipFill>
        <p:spPr>
          <a:xfrm>
            <a:off x="4727448" y="4727448"/>
            <a:ext cx="237744" cy="237744"/>
          </a:xfrm>
          <a:prstGeom prst="rect">
            <a:avLst/>
          </a:prstGeom>
        </p:spPr>
      </p:pic>
      <p:sp>
        <p:nvSpPr>
          <p:cNvPr id="28" name="Text 21"/>
          <p:cNvSpPr/>
          <p:nvPr/>
        </p:nvSpPr>
        <p:spPr>
          <a:xfrm>
            <a:off x="4617720" y="521208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Status Notifications</a:t>
            </a:r>
            <a:endParaRPr lang="en-US" sz="1350" dirty="0"/>
          </a:p>
        </p:txBody>
      </p:sp>
      <p:sp>
        <p:nvSpPr>
          <p:cNvPr id="29" name="Text 22"/>
          <p:cNvSpPr/>
          <p:nvPr/>
        </p:nvSpPr>
        <p:spPr>
          <a:xfrm>
            <a:off x="4617720" y="555955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Automated alerts keep complainants informed at every stage of resolution.</a:t>
            </a:r>
            <a:endParaRPr lang="en-US" sz="1100" dirty="0"/>
          </a:p>
        </p:txBody>
      </p:sp>
      <p:sp>
        <p:nvSpPr>
          <p:cNvPr id="30" name="Shape 23"/>
          <p:cNvSpPr/>
          <p:nvPr/>
        </p:nvSpPr>
        <p:spPr>
          <a:xfrm>
            <a:off x="8138160" y="4389120"/>
            <a:ext cx="3520440" cy="2148840"/>
          </a:xfrm>
          <a:prstGeom prst="roundRect">
            <a:avLst>
              <a:gd name="adj" fmla="val 4255"/>
            </a:avLst>
          </a:prstGeom>
          <a:solidFill>
            <a:srgbClr val="F6F8FD"/>
          </a:solidFill>
          <a:ln/>
        </p:spPr>
      </p:sp>
      <p:sp>
        <p:nvSpPr>
          <p:cNvPr id="31" name="Shape 24"/>
          <p:cNvSpPr/>
          <p:nvPr/>
        </p:nvSpPr>
        <p:spPr>
          <a:xfrm>
            <a:off x="8366760" y="4617720"/>
            <a:ext cx="457200" cy="457200"/>
          </a:xfrm>
          <a:prstGeom prst="ellipse">
            <a:avLst/>
          </a:prstGeom>
          <a:solidFill>
            <a:srgbClr val="1E2761"/>
          </a:solidFill>
          <a:ln/>
        </p:spPr>
      </p:sp>
      <p:pic>
        <p:nvPicPr>
          <p:cNvPr id="32" name="Image 5" descr="/home/claude/ppt/icons/chart_FFFFFF.png">    </p:cNvPr>
          <p:cNvPicPr>
            <a:picLocks noChangeAspect="1"/>
          </p:cNvPicPr>
          <p:nvPr/>
        </p:nvPicPr>
        <p:blipFill>
          <a:blip r:embed="rId6"/>
          <a:stretch>
            <a:fillRect/>
          </a:stretch>
        </p:blipFill>
        <p:spPr>
          <a:xfrm>
            <a:off x="8476488" y="4727448"/>
            <a:ext cx="237744" cy="237744"/>
          </a:xfrm>
          <a:prstGeom prst="rect">
            <a:avLst/>
          </a:prstGeom>
        </p:spPr>
      </p:pic>
      <p:sp>
        <p:nvSpPr>
          <p:cNvPr id="33" name="Text 25"/>
          <p:cNvSpPr/>
          <p:nvPr/>
        </p:nvSpPr>
        <p:spPr>
          <a:xfrm>
            <a:off x="8366760" y="5212080"/>
            <a:ext cx="3063240"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Priority &amp; Category Assignment</a:t>
            </a:r>
            <a:endParaRPr lang="en-US" sz="1350" dirty="0"/>
          </a:p>
        </p:txBody>
      </p:sp>
      <p:sp>
        <p:nvSpPr>
          <p:cNvPr id="34" name="Text 26"/>
          <p:cNvSpPr/>
          <p:nvPr/>
        </p:nvSpPr>
        <p:spPr>
          <a:xfrm>
            <a:off x="8366760" y="5559552"/>
            <a:ext cx="3063240" cy="868680"/>
          </a:xfrm>
          <a:prstGeom prst="rect">
            <a:avLst/>
          </a:prstGeom>
          <a:noFill/>
          <a:ln/>
        </p:spPr>
        <p:txBody>
          <a:bodyPr wrap="square" rtlCol="0" anchor="ctr"/>
          <a:lstStyle/>
          <a:p>
            <a:pPr indent="0" marL="0">
              <a:lnSpc>
                <a:spcPts val="1450"/>
              </a:lnSpc>
              <a:buNone/>
            </a:pPr>
            <a:r>
              <a:rPr lang="en-US" sz="1100" dirty="0">
                <a:solidFill>
                  <a:srgbClr val="6B7280"/>
                </a:solidFill>
                <a:latin typeface="Calibri" pitchFamily="34" charset="0"/>
                <a:ea typeface="Calibri" pitchFamily="34" charset="-122"/>
                <a:cs typeface="Calibri" pitchFamily="34" charset="-120"/>
              </a:rPr>
              <a:t>Grievances are triaged and routed automatically based on urgency and type.</a:t>
            </a:r>
            <a:endParaRPr lang="en-US" sz="1100" dirty="0"/>
          </a:p>
        </p:txBody>
      </p:sp>
      <p:sp>
        <p:nvSpPr>
          <p:cNvPr id="35" name="Text 27"/>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ARCHITECTURE</a:t>
            </a:r>
            <a:endParaRPr lang="en-US" sz="1300" dirty="0"/>
          </a:p>
        </p:txBody>
      </p:sp>
      <p:sp>
        <p:nvSpPr>
          <p:cNvPr id="3" name="Text 1"/>
          <p:cNvSpPr/>
          <p:nvPr/>
        </p:nvSpPr>
        <p:spPr>
          <a:xfrm>
            <a:off x="640080" y="777240"/>
            <a:ext cx="10058400" cy="548640"/>
          </a:xfrm>
          <a:prstGeom prst="rect">
            <a:avLst/>
          </a:prstGeom>
          <a:noFill/>
          <a:ln/>
        </p:spPr>
        <p:txBody>
          <a:bodyPr wrap="square" rtlCol="0" anchor="ctr"/>
          <a:lstStyle/>
          <a:p>
            <a:pPr indent="0" marL="0">
              <a:buNone/>
            </a:pPr>
            <a:r>
              <a:rPr lang="en-US" sz="2600" b="1" dirty="0">
                <a:solidFill>
                  <a:srgbClr val="23262F"/>
                </a:solidFill>
                <a:latin typeface="Cambria" pitchFamily="34" charset="0"/>
                <a:ea typeface="Cambria" pitchFamily="34" charset="-122"/>
                <a:cs typeface="Cambria" pitchFamily="34" charset="-120"/>
              </a:rPr>
              <a:t>React JS, Node.js &amp; MySQL — Three-Tier Design</a:t>
            </a:r>
            <a:endParaRPr lang="en-US" sz="2600" dirty="0"/>
          </a:p>
        </p:txBody>
      </p:sp>
      <p:sp>
        <p:nvSpPr>
          <p:cNvPr id="4" name="Shape 2"/>
          <p:cNvSpPr/>
          <p:nvPr/>
        </p:nvSpPr>
        <p:spPr>
          <a:xfrm>
            <a:off x="640080" y="1463040"/>
            <a:ext cx="6035040" cy="10973"/>
          </a:xfrm>
          <a:prstGeom prst="rect">
            <a:avLst/>
          </a:prstGeom>
          <a:solidFill>
            <a:srgbClr val="CADCFC"/>
          </a:solidFill>
          <a:ln/>
        </p:spPr>
      </p:sp>
      <p:sp>
        <p:nvSpPr>
          <p:cNvPr id="5" name="Text 3"/>
          <p:cNvSpPr/>
          <p:nvPr/>
        </p:nvSpPr>
        <p:spPr>
          <a:xfrm>
            <a:off x="640080" y="1664208"/>
            <a:ext cx="10881360" cy="457200"/>
          </a:xfrm>
          <a:prstGeom prst="rect">
            <a:avLst/>
          </a:prstGeom>
          <a:noFill/>
          <a:ln/>
        </p:spPr>
        <p:txBody>
          <a:bodyPr wrap="square" rtlCol="0" anchor="ctr"/>
          <a:lstStyle/>
          <a:p>
            <a:pPr indent="0" marL="0">
              <a:lnSpc>
                <a:spcPts val="1600"/>
              </a:lnSpc>
              <a:buNone/>
            </a:pPr>
            <a:r>
              <a:rPr lang="en-US" sz="1250" dirty="0">
                <a:solidFill>
                  <a:srgbClr val="6B7280"/>
                </a:solidFill>
                <a:latin typeface="Calibri" pitchFamily="34" charset="0"/>
                <a:ea typeface="Calibri" pitchFamily="34" charset="-122"/>
                <a:cs typeface="Calibri" pitchFamily="34" charset="-120"/>
              </a:rPr>
              <a:t>The portal follows a simple, standard three-tier web architecture — a React JS interface talks to a Node.js REST API, which reads and writes to a MySQL database.</a:t>
            </a:r>
            <a:endParaRPr lang="en-US" sz="1250" dirty="0"/>
          </a:p>
        </p:txBody>
      </p:sp>
      <p:sp>
        <p:nvSpPr>
          <p:cNvPr id="6" name="Shape 4"/>
          <p:cNvSpPr/>
          <p:nvPr/>
        </p:nvSpPr>
        <p:spPr>
          <a:xfrm>
            <a:off x="640080" y="2377440"/>
            <a:ext cx="3246120" cy="1554480"/>
          </a:xfrm>
          <a:prstGeom prst="roundRect">
            <a:avLst>
              <a:gd name="adj" fmla="val 5882"/>
            </a:avLst>
          </a:prstGeom>
          <a:solidFill>
            <a:srgbClr val="F6F8FD"/>
          </a:solidFill>
          <a:ln/>
        </p:spPr>
      </p:sp>
      <p:sp>
        <p:nvSpPr>
          <p:cNvPr id="7" name="Shape 5"/>
          <p:cNvSpPr/>
          <p:nvPr/>
        </p:nvSpPr>
        <p:spPr>
          <a:xfrm>
            <a:off x="868680" y="2606040"/>
            <a:ext cx="502920" cy="502920"/>
          </a:xfrm>
          <a:prstGeom prst="ellipse">
            <a:avLst/>
          </a:prstGeom>
          <a:solidFill>
            <a:srgbClr val="1E2761"/>
          </a:solidFill>
          <a:ln/>
        </p:spPr>
      </p:sp>
      <p:pic>
        <p:nvPicPr>
          <p:cNvPr id="8" name="Image 0" descr="/home/claude/ppt/icons/react_FFFFFF.png">    </p:cNvPr>
          <p:cNvPicPr>
            <a:picLocks noChangeAspect="1"/>
          </p:cNvPicPr>
          <p:nvPr/>
        </p:nvPicPr>
        <p:blipFill>
          <a:blip r:embed="rId1"/>
          <a:stretch>
            <a:fillRect/>
          </a:stretch>
        </p:blipFill>
        <p:spPr>
          <a:xfrm>
            <a:off x="996696" y="2734056"/>
            <a:ext cx="246888" cy="246888"/>
          </a:xfrm>
          <a:prstGeom prst="rect">
            <a:avLst/>
          </a:prstGeom>
        </p:spPr>
      </p:pic>
      <p:sp>
        <p:nvSpPr>
          <p:cNvPr id="9" name="Text 6"/>
          <p:cNvSpPr/>
          <p:nvPr/>
        </p:nvSpPr>
        <p:spPr>
          <a:xfrm>
            <a:off x="1508760" y="2578608"/>
            <a:ext cx="2194560" cy="274320"/>
          </a:xfrm>
          <a:prstGeom prst="rect">
            <a:avLst/>
          </a:prstGeom>
          <a:noFill/>
          <a:ln/>
        </p:spPr>
        <p:txBody>
          <a:bodyPr wrap="square"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PRESENTATION TIER</a:t>
            </a:r>
            <a:endParaRPr lang="en-US" sz="950" dirty="0"/>
          </a:p>
        </p:txBody>
      </p:sp>
      <p:sp>
        <p:nvSpPr>
          <p:cNvPr id="10" name="Text 7"/>
          <p:cNvSpPr/>
          <p:nvPr/>
        </p:nvSpPr>
        <p:spPr>
          <a:xfrm>
            <a:off x="1508760" y="2816352"/>
            <a:ext cx="2194560" cy="320040"/>
          </a:xfrm>
          <a:prstGeom prst="rect">
            <a:avLst/>
          </a:prstGeom>
          <a:noFill/>
          <a:ln/>
        </p:spPr>
        <p:txBody>
          <a:bodyPr wrap="square" rtlCol="0" anchor="ctr"/>
          <a:lstStyle/>
          <a:p>
            <a:pPr indent="0" marL="0">
              <a:buNone/>
            </a:pPr>
            <a:r>
              <a:rPr lang="en-US" sz="1400" b="1" dirty="0">
                <a:solidFill>
                  <a:srgbClr val="23262F"/>
                </a:solidFill>
                <a:latin typeface="Calibri" pitchFamily="34" charset="0"/>
                <a:ea typeface="Calibri" pitchFamily="34" charset="-122"/>
                <a:cs typeface="Calibri" pitchFamily="34" charset="-120"/>
              </a:rPr>
              <a:t>React JS Frontend</a:t>
            </a:r>
            <a:endParaRPr lang="en-US" sz="1400" dirty="0"/>
          </a:p>
        </p:txBody>
      </p:sp>
      <p:sp>
        <p:nvSpPr>
          <p:cNvPr id="11" name="Text 8"/>
          <p:cNvSpPr/>
          <p:nvPr/>
        </p:nvSpPr>
        <p:spPr>
          <a:xfrm>
            <a:off x="868680" y="3273552"/>
            <a:ext cx="2788920" cy="594360"/>
          </a:xfrm>
          <a:prstGeom prst="rect">
            <a:avLst/>
          </a:prstGeom>
          <a:noFill/>
          <a:ln/>
        </p:spPr>
        <p:txBody>
          <a:bodyPr wrap="square" rtlCol="0" anchor="ctr"/>
          <a:lstStyle/>
          <a:p>
            <a:pPr indent="0" marL="0">
              <a:lnSpc>
                <a:spcPts val="1300"/>
              </a:lnSpc>
              <a:buNone/>
            </a:pPr>
            <a:r>
              <a:rPr lang="en-US" sz="1030" dirty="0">
                <a:solidFill>
                  <a:srgbClr val="6B7280"/>
                </a:solidFill>
                <a:latin typeface="Calibri" pitchFamily="34" charset="0"/>
                <a:ea typeface="Calibri" pitchFamily="34" charset="-122"/>
                <a:cs typeface="Calibri" pitchFamily="34" charset="-120"/>
              </a:rPr>
              <a:t>Login, dashboards, and grievance forms rendered as a responsive SPA</a:t>
            </a:r>
            <a:endParaRPr lang="en-US" sz="1030" dirty="0"/>
          </a:p>
        </p:txBody>
      </p:sp>
      <p:sp>
        <p:nvSpPr>
          <p:cNvPr id="12" name="Shape 9"/>
          <p:cNvSpPr/>
          <p:nvPr/>
        </p:nvSpPr>
        <p:spPr>
          <a:xfrm>
            <a:off x="3941064" y="3154680"/>
            <a:ext cx="667512" cy="0"/>
          </a:xfrm>
          <a:prstGeom prst="line">
            <a:avLst/>
          </a:prstGeom>
          <a:noFill/>
          <a:ln w="19050">
            <a:solidFill>
              <a:srgbClr val="6B7280"/>
            </a:solidFill>
            <a:prstDash val="solid"/>
            <a:tailEnd type="triangle"/>
          </a:ln>
        </p:spPr>
      </p:sp>
      <p:sp>
        <p:nvSpPr>
          <p:cNvPr id="13" name="Shape 10"/>
          <p:cNvSpPr/>
          <p:nvPr/>
        </p:nvSpPr>
        <p:spPr>
          <a:xfrm>
            <a:off x="4663440" y="2377440"/>
            <a:ext cx="3246120" cy="1554480"/>
          </a:xfrm>
          <a:prstGeom prst="roundRect">
            <a:avLst>
              <a:gd name="adj" fmla="val 5882"/>
            </a:avLst>
          </a:prstGeom>
          <a:solidFill>
            <a:srgbClr val="F6F8FD"/>
          </a:solidFill>
          <a:ln/>
        </p:spPr>
      </p:sp>
      <p:sp>
        <p:nvSpPr>
          <p:cNvPr id="14" name="Shape 11"/>
          <p:cNvSpPr/>
          <p:nvPr/>
        </p:nvSpPr>
        <p:spPr>
          <a:xfrm>
            <a:off x="4892040" y="2606040"/>
            <a:ext cx="502920" cy="502920"/>
          </a:xfrm>
          <a:prstGeom prst="ellipse">
            <a:avLst/>
          </a:prstGeom>
          <a:solidFill>
            <a:srgbClr val="1E2761"/>
          </a:solidFill>
          <a:ln/>
        </p:spPr>
      </p:sp>
      <p:pic>
        <p:nvPicPr>
          <p:cNvPr id="15" name="Image 1" descr="/home/claude/ppt/icons/nodejs_FFFFFF.png">    </p:cNvPr>
          <p:cNvPicPr>
            <a:picLocks noChangeAspect="1"/>
          </p:cNvPicPr>
          <p:nvPr/>
        </p:nvPicPr>
        <p:blipFill>
          <a:blip r:embed="rId2"/>
          <a:stretch>
            <a:fillRect/>
          </a:stretch>
        </p:blipFill>
        <p:spPr>
          <a:xfrm>
            <a:off x="5020056" y="2734056"/>
            <a:ext cx="246888" cy="246888"/>
          </a:xfrm>
          <a:prstGeom prst="rect">
            <a:avLst/>
          </a:prstGeom>
        </p:spPr>
      </p:pic>
      <p:sp>
        <p:nvSpPr>
          <p:cNvPr id="16" name="Text 12"/>
          <p:cNvSpPr/>
          <p:nvPr/>
        </p:nvSpPr>
        <p:spPr>
          <a:xfrm>
            <a:off x="5532120" y="2578608"/>
            <a:ext cx="2194560" cy="274320"/>
          </a:xfrm>
          <a:prstGeom prst="rect">
            <a:avLst/>
          </a:prstGeom>
          <a:noFill/>
          <a:ln/>
        </p:spPr>
        <p:txBody>
          <a:bodyPr wrap="square"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APPLICATION TIER</a:t>
            </a:r>
            <a:endParaRPr lang="en-US" sz="950" dirty="0"/>
          </a:p>
        </p:txBody>
      </p:sp>
      <p:sp>
        <p:nvSpPr>
          <p:cNvPr id="17" name="Text 13"/>
          <p:cNvSpPr/>
          <p:nvPr/>
        </p:nvSpPr>
        <p:spPr>
          <a:xfrm>
            <a:off x="5532120" y="2816352"/>
            <a:ext cx="2194560" cy="320040"/>
          </a:xfrm>
          <a:prstGeom prst="rect">
            <a:avLst/>
          </a:prstGeom>
          <a:noFill/>
          <a:ln/>
        </p:spPr>
        <p:txBody>
          <a:bodyPr wrap="square" rtlCol="0" anchor="ctr"/>
          <a:lstStyle/>
          <a:p>
            <a:pPr indent="0" marL="0">
              <a:buNone/>
            </a:pPr>
            <a:r>
              <a:rPr lang="en-US" sz="1400" b="1" dirty="0">
                <a:solidFill>
                  <a:srgbClr val="23262F"/>
                </a:solidFill>
                <a:latin typeface="Calibri" pitchFamily="34" charset="0"/>
                <a:ea typeface="Calibri" pitchFamily="34" charset="-122"/>
                <a:cs typeface="Calibri" pitchFamily="34" charset="-120"/>
              </a:rPr>
              <a:t>Node.js + Express API</a:t>
            </a:r>
            <a:endParaRPr lang="en-US" sz="1400" dirty="0"/>
          </a:p>
        </p:txBody>
      </p:sp>
      <p:sp>
        <p:nvSpPr>
          <p:cNvPr id="18" name="Text 14"/>
          <p:cNvSpPr/>
          <p:nvPr/>
        </p:nvSpPr>
        <p:spPr>
          <a:xfrm>
            <a:off x="4892040" y="3273552"/>
            <a:ext cx="2788920" cy="594360"/>
          </a:xfrm>
          <a:prstGeom prst="rect">
            <a:avLst/>
          </a:prstGeom>
          <a:noFill/>
          <a:ln/>
        </p:spPr>
        <p:txBody>
          <a:bodyPr wrap="square" rtlCol="0" anchor="ctr"/>
          <a:lstStyle/>
          <a:p>
            <a:pPr indent="0" marL="0">
              <a:lnSpc>
                <a:spcPts val="1300"/>
              </a:lnSpc>
              <a:buNone/>
            </a:pPr>
            <a:r>
              <a:rPr lang="en-US" sz="1030" dirty="0">
                <a:solidFill>
                  <a:srgbClr val="6B7280"/>
                </a:solidFill>
                <a:latin typeface="Calibri" pitchFamily="34" charset="0"/>
                <a:ea typeface="Calibri" pitchFamily="34" charset="-122"/>
                <a:cs typeface="Calibri" pitchFamily="34" charset="-120"/>
              </a:rPr>
              <a:t>REST endpoints for auth, grievance CRUD, status updates &amp; notifications</a:t>
            </a:r>
            <a:endParaRPr lang="en-US" sz="1030" dirty="0"/>
          </a:p>
        </p:txBody>
      </p:sp>
      <p:sp>
        <p:nvSpPr>
          <p:cNvPr id="19" name="Shape 15"/>
          <p:cNvSpPr/>
          <p:nvPr/>
        </p:nvSpPr>
        <p:spPr>
          <a:xfrm>
            <a:off x="7964424" y="3154680"/>
            <a:ext cx="667512" cy="0"/>
          </a:xfrm>
          <a:prstGeom prst="line">
            <a:avLst/>
          </a:prstGeom>
          <a:noFill/>
          <a:ln w="19050">
            <a:solidFill>
              <a:srgbClr val="6B7280"/>
            </a:solidFill>
            <a:prstDash val="solid"/>
            <a:tailEnd type="triangle"/>
          </a:ln>
        </p:spPr>
      </p:sp>
      <p:sp>
        <p:nvSpPr>
          <p:cNvPr id="20" name="Shape 16"/>
          <p:cNvSpPr/>
          <p:nvPr/>
        </p:nvSpPr>
        <p:spPr>
          <a:xfrm>
            <a:off x="8686800" y="2377440"/>
            <a:ext cx="3246120" cy="1554480"/>
          </a:xfrm>
          <a:prstGeom prst="roundRect">
            <a:avLst>
              <a:gd name="adj" fmla="val 5882"/>
            </a:avLst>
          </a:prstGeom>
          <a:solidFill>
            <a:srgbClr val="F6F8FD"/>
          </a:solidFill>
          <a:ln/>
        </p:spPr>
      </p:sp>
      <p:sp>
        <p:nvSpPr>
          <p:cNvPr id="21" name="Shape 17"/>
          <p:cNvSpPr/>
          <p:nvPr/>
        </p:nvSpPr>
        <p:spPr>
          <a:xfrm>
            <a:off x="8915400" y="2606040"/>
            <a:ext cx="502920" cy="502920"/>
          </a:xfrm>
          <a:prstGeom prst="ellipse">
            <a:avLst/>
          </a:prstGeom>
          <a:solidFill>
            <a:srgbClr val="1E2761"/>
          </a:solidFill>
          <a:ln/>
        </p:spPr>
      </p:sp>
      <p:pic>
        <p:nvPicPr>
          <p:cNvPr id="22" name="Image 2" descr="/home/claude/ppt/icons/database_FFFFFF.png">    </p:cNvPr>
          <p:cNvPicPr>
            <a:picLocks noChangeAspect="1"/>
          </p:cNvPicPr>
          <p:nvPr/>
        </p:nvPicPr>
        <p:blipFill>
          <a:blip r:embed="rId3"/>
          <a:stretch>
            <a:fillRect/>
          </a:stretch>
        </p:blipFill>
        <p:spPr>
          <a:xfrm>
            <a:off x="9043416" y="2734056"/>
            <a:ext cx="246888" cy="246888"/>
          </a:xfrm>
          <a:prstGeom prst="rect">
            <a:avLst/>
          </a:prstGeom>
        </p:spPr>
      </p:pic>
      <p:sp>
        <p:nvSpPr>
          <p:cNvPr id="23" name="Text 18"/>
          <p:cNvSpPr/>
          <p:nvPr/>
        </p:nvSpPr>
        <p:spPr>
          <a:xfrm>
            <a:off x="9555480" y="2578608"/>
            <a:ext cx="2194560" cy="274320"/>
          </a:xfrm>
          <a:prstGeom prst="rect">
            <a:avLst/>
          </a:prstGeom>
          <a:noFill/>
          <a:ln/>
        </p:spPr>
        <p:txBody>
          <a:bodyPr wrap="square" rtlCol="0" anchor="ctr"/>
          <a:lstStyle/>
          <a:p>
            <a:pPr indent="0" marL="0">
              <a:buNone/>
            </a:pPr>
            <a:r>
              <a:rPr lang="en-US" sz="950" b="1" spc="100" kern="0" dirty="0">
                <a:solidFill>
                  <a:srgbClr val="1E2761"/>
                </a:solidFill>
                <a:latin typeface="Calibri" pitchFamily="34" charset="0"/>
                <a:ea typeface="Calibri" pitchFamily="34" charset="-122"/>
                <a:cs typeface="Calibri" pitchFamily="34" charset="-120"/>
              </a:rPr>
              <a:t>DATA TIER</a:t>
            </a:r>
            <a:endParaRPr lang="en-US" sz="950" dirty="0"/>
          </a:p>
        </p:txBody>
      </p:sp>
      <p:sp>
        <p:nvSpPr>
          <p:cNvPr id="24" name="Text 19"/>
          <p:cNvSpPr/>
          <p:nvPr/>
        </p:nvSpPr>
        <p:spPr>
          <a:xfrm>
            <a:off x="9555480" y="2816352"/>
            <a:ext cx="2194560" cy="320040"/>
          </a:xfrm>
          <a:prstGeom prst="rect">
            <a:avLst/>
          </a:prstGeom>
          <a:noFill/>
          <a:ln/>
        </p:spPr>
        <p:txBody>
          <a:bodyPr wrap="square" rtlCol="0" anchor="ctr"/>
          <a:lstStyle/>
          <a:p>
            <a:pPr indent="0" marL="0">
              <a:buNone/>
            </a:pPr>
            <a:r>
              <a:rPr lang="en-US" sz="1400" b="1" dirty="0">
                <a:solidFill>
                  <a:srgbClr val="23262F"/>
                </a:solidFill>
                <a:latin typeface="Calibri" pitchFamily="34" charset="0"/>
                <a:ea typeface="Calibri" pitchFamily="34" charset="-122"/>
                <a:cs typeface="Calibri" pitchFamily="34" charset="-120"/>
              </a:rPr>
              <a:t>MySQL Database</a:t>
            </a:r>
            <a:endParaRPr lang="en-US" sz="1400" dirty="0"/>
          </a:p>
        </p:txBody>
      </p:sp>
      <p:sp>
        <p:nvSpPr>
          <p:cNvPr id="25" name="Text 20"/>
          <p:cNvSpPr/>
          <p:nvPr/>
        </p:nvSpPr>
        <p:spPr>
          <a:xfrm>
            <a:off x="8915400" y="3273552"/>
            <a:ext cx="2788920" cy="594360"/>
          </a:xfrm>
          <a:prstGeom prst="rect">
            <a:avLst/>
          </a:prstGeom>
          <a:noFill/>
          <a:ln/>
        </p:spPr>
        <p:txBody>
          <a:bodyPr wrap="square" rtlCol="0" anchor="ctr"/>
          <a:lstStyle/>
          <a:p>
            <a:pPr indent="0" marL="0">
              <a:lnSpc>
                <a:spcPts val="1300"/>
              </a:lnSpc>
              <a:buNone/>
            </a:pPr>
            <a:r>
              <a:rPr lang="en-US" sz="1030" dirty="0">
                <a:solidFill>
                  <a:srgbClr val="6B7280"/>
                </a:solidFill>
                <a:latin typeface="Calibri" pitchFamily="34" charset="0"/>
                <a:ea typeface="Calibri" pitchFamily="34" charset="-122"/>
                <a:cs typeface="Calibri" pitchFamily="34" charset="-120"/>
              </a:rPr>
              <a:t>Relational storage for users, grievances, categories &amp; status history</a:t>
            </a:r>
            <a:endParaRPr lang="en-US" sz="1030" dirty="0"/>
          </a:p>
        </p:txBody>
      </p:sp>
      <p:sp>
        <p:nvSpPr>
          <p:cNvPr id="26" name="Text 21"/>
          <p:cNvSpPr/>
          <p:nvPr/>
        </p:nvSpPr>
        <p:spPr>
          <a:xfrm>
            <a:off x="3886200" y="2843784"/>
            <a:ext cx="777240" cy="219456"/>
          </a:xfrm>
          <a:prstGeom prst="rect">
            <a:avLst/>
          </a:prstGeom>
          <a:noFill/>
          <a:ln/>
        </p:spPr>
        <p:txBody>
          <a:bodyPr wrap="square"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JSON / HTTPS</a:t>
            </a:r>
            <a:endParaRPr lang="en-US" sz="850" dirty="0"/>
          </a:p>
        </p:txBody>
      </p:sp>
      <p:sp>
        <p:nvSpPr>
          <p:cNvPr id="27" name="Text 22"/>
          <p:cNvSpPr/>
          <p:nvPr/>
        </p:nvSpPr>
        <p:spPr>
          <a:xfrm>
            <a:off x="7909560" y="2843784"/>
            <a:ext cx="777240" cy="219456"/>
          </a:xfrm>
          <a:prstGeom prst="rect">
            <a:avLst/>
          </a:prstGeom>
          <a:noFill/>
          <a:ln/>
        </p:spPr>
        <p:txBody>
          <a:bodyPr wrap="square" rtlCol="0" anchor="ctr"/>
          <a:lstStyle/>
          <a:p>
            <a:pPr algn="ctr" indent="0" marL="0">
              <a:buNone/>
            </a:pPr>
            <a:r>
              <a:rPr lang="en-US" sz="850" i="1" dirty="0">
                <a:solidFill>
                  <a:srgbClr val="6B7280"/>
                </a:solidFill>
                <a:latin typeface="Calibri" pitchFamily="34" charset="0"/>
                <a:ea typeface="Calibri" pitchFamily="34" charset="-122"/>
                <a:cs typeface="Calibri" pitchFamily="34" charset="-120"/>
              </a:rPr>
              <a:t>SQL via ORM</a:t>
            </a:r>
            <a:endParaRPr lang="en-US" sz="850" dirty="0"/>
          </a:p>
        </p:txBody>
      </p:sp>
      <p:sp>
        <p:nvSpPr>
          <p:cNvPr id="28" name="Shape 23"/>
          <p:cNvSpPr/>
          <p:nvPr/>
        </p:nvSpPr>
        <p:spPr>
          <a:xfrm>
            <a:off x="640080" y="4297680"/>
            <a:ext cx="10881360" cy="1417320"/>
          </a:xfrm>
          <a:prstGeom prst="roundRect">
            <a:avLst>
              <a:gd name="adj" fmla="val 6452"/>
            </a:avLst>
          </a:prstGeom>
          <a:solidFill>
            <a:srgbClr val="1E2761"/>
          </a:solidFill>
          <a:ln/>
        </p:spPr>
      </p:sp>
      <p:pic>
        <p:nvPicPr>
          <p:cNvPr id="29" name="Image 3" descr="/home/claude/ppt/icons/shield_CADCFC.png">    </p:cNvPr>
          <p:cNvPicPr>
            <a:picLocks noChangeAspect="1"/>
          </p:cNvPicPr>
          <p:nvPr/>
        </p:nvPicPr>
        <p:blipFill>
          <a:blip r:embed="rId4"/>
          <a:stretch>
            <a:fillRect/>
          </a:stretch>
        </p:blipFill>
        <p:spPr>
          <a:xfrm>
            <a:off x="868680" y="4553712"/>
            <a:ext cx="310896" cy="310896"/>
          </a:xfrm>
          <a:prstGeom prst="rect">
            <a:avLst/>
          </a:prstGeom>
        </p:spPr>
      </p:pic>
      <p:sp>
        <p:nvSpPr>
          <p:cNvPr id="30" name="Text 24"/>
          <p:cNvSpPr/>
          <p:nvPr/>
        </p:nvSpPr>
        <p:spPr>
          <a:xfrm>
            <a:off x="1307592" y="4480560"/>
            <a:ext cx="28803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JWT Auth Middleware</a:t>
            </a:r>
            <a:endParaRPr lang="en-US" sz="1250" dirty="0"/>
          </a:p>
        </p:txBody>
      </p:sp>
      <p:sp>
        <p:nvSpPr>
          <p:cNvPr id="31" name="Text 25"/>
          <p:cNvSpPr/>
          <p:nvPr/>
        </p:nvSpPr>
        <p:spPr>
          <a:xfrm>
            <a:off x="1307592" y="4828032"/>
            <a:ext cx="2880360" cy="685800"/>
          </a:xfrm>
          <a:prstGeom prst="rect">
            <a:avLst/>
          </a:prstGeom>
          <a:noFill/>
          <a:ln/>
        </p:spPr>
        <p:txBody>
          <a:bodyPr wrap="square" rtlCol="0" anchor="ctr"/>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Every API request is verified before it touches the database</a:t>
            </a:r>
            <a:endParaRPr lang="en-US" sz="1000" dirty="0"/>
          </a:p>
        </p:txBody>
      </p:sp>
      <p:pic>
        <p:nvPicPr>
          <p:cNvPr id="32" name="Image 4" descr="/home/claude/ppt/icons/route_CADCFC.png">    </p:cNvPr>
          <p:cNvPicPr>
            <a:picLocks noChangeAspect="1"/>
          </p:cNvPicPr>
          <p:nvPr/>
        </p:nvPicPr>
        <p:blipFill>
          <a:blip r:embed="rId5"/>
          <a:stretch>
            <a:fillRect/>
          </a:stretch>
        </p:blipFill>
        <p:spPr>
          <a:xfrm>
            <a:off x="4297680" y="4553712"/>
            <a:ext cx="310896" cy="310896"/>
          </a:xfrm>
          <a:prstGeom prst="rect">
            <a:avLst/>
          </a:prstGeom>
        </p:spPr>
      </p:pic>
      <p:sp>
        <p:nvSpPr>
          <p:cNvPr id="33" name="Text 26"/>
          <p:cNvSpPr/>
          <p:nvPr/>
        </p:nvSpPr>
        <p:spPr>
          <a:xfrm>
            <a:off x="4736592" y="4480560"/>
            <a:ext cx="28803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Role-Based Routing</a:t>
            </a:r>
            <a:endParaRPr lang="en-US" sz="1250" dirty="0"/>
          </a:p>
        </p:txBody>
      </p:sp>
      <p:sp>
        <p:nvSpPr>
          <p:cNvPr id="34" name="Text 27"/>
          <p:cNvSpPr/>
          <p:nvPr/>
        </p:nvSpPr>
        <p:spPr>
          <a:xfrm>
            <a:off x="4736592" y="4828032"/>
            <a:ext cx="2880360" cy="685800"/>
          </a:xfrm>
          <a:prstGeom prst="rect">
            <a:avLst/>
          </a:prstGeom>
          <a:noFill/>
          <a:ln/>
        </p:spPr>
        <p:txBody>
          <a:bodyPr wrap="square" rtlCol="0" anchor="ctr"/>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Express routes branch by user role: student, faculty, staff, admin</a:t>
            </a:r>
            <a:endParaRPr lang="en-US" sz="1000" dirty="0"/>
          </a:p>
        </p:txBody>
      </p:sp>
      <p:pic>
        <p:nvPicPr>
          <p:cNvPr id="35" name="Image 5" descr="/home/claude/ppt/icons/bell_CADCFC.png">    </p:cNvPr>
          <p:cNvPicPr>
            <a:picLocks noChangeAspect="1"/>
          </p:cNvPicPr>
          <p:nvPr/>
        </p:nvPicPr>
        <p:blipFill>
          <a:blip r:embed="rId6"/>
          <a:stretch>
            <a:fillRect/>
          </a:stretch>
        </p:blipFill>
        <p:spPr>
          <a:xfrm>
            <a:off x="7726680" y="4553712"/>
            <a:ext cx="310896" cy="310896"/>
          </a:xfrm>
          <a:prstGeom prst="rect">
            <a:avLst/>
          </a:prstGeom>
        </p:spPr>
      </p:pic>
      <p:sp>
        <p:nvSpPr>
          <p:cNvPr id="36" name="Text 28"/>
          <p:cNvSpPr/>
          <p:nvPr/>
        </p:nvSpPr>
        <p:spPr>
          <a:xfrm>
            <a:off x="8165592" y="4480560"/>
            <a:ext cx="2880360" cy="320040"/>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Notification Layer</a:t>
            </a:r>
            <a:endParaRPr lang="en-US" sz="1250" dirty="0"/>
          </a:p>
        </p:txBody>
      </p:sp>
      <p:sp>
        <p:nvSpPr>
          <p:cNvPr id="37" name="Text 29"/>
          <p:cNvSpPr/>
          <p:nvPr/>
        </p:nvSpPr>
        <p:spPr>
          <a:xfrm>
            <a:off x="8165592" y="4828032"/>
            <a:ext cx="2880360" cy="685800"/>
          </a:xfrm>
          <a:prstGeom prst="rect">
            <a:avLst/>
          </a:prstGeom>
          <a:noFill/>
          <a:ln/>
        </p:spPr>
        <p:txBody>
          <a:bodyPr wrap="square" rtlCol="0" anchor="ctr"/>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Status changes trigger alerts back to the React client</a:t>
            </a:r>
            <a:endParaRPr lang="en-US" sz="1000" dirty="0"/>
          </a:p>
        </p:txBody>
      </p:sp>
      <p:sp>
        <p:nvSpPr>
          <p:cNvPr id="38" name="Text 30"/>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463040" y="-1645920"/>
            <a:ext cx="4206240" cy="4206240"/>
          </a:xfrm>
          <a:prstGeom prst="ellipse">
            <a:avLst/>
          </a:prstGeom>
          <a:solidFill>
            <a:srgbClr val="273478"/>
          </a:solidFill>
          <a:ln/>
        </p:spPr>
      </p:sp>
      <p:sp>
        <p:nvSpPr>
          <p:cNvPr id="3" name="Shape 1"/>
          <p:cNvSpPr/>
          <p:nvPr/>
        </p:nvSpPr>
        <p:spPr>
          <a:xfrm>
            <a:off x="10241280" y="4389120"/>
            <a:ext cx="4206240" cy="4206240"/>
          </a:xfrm>
          <a:prstGeom prst="ellipse">
            <a:avLst/>
          </a:prstGeom>
          <a:solidFill>
            <a:srgbClr val="273478"/>
          </a:solidFill>
          <a:ln/>
        </p:spPr>
      </p:sp>
      <p:sp>
        <p:nvSpPr>
          <p:cNvPr id="4" name="Text 2"/>
          <p:cNvSpPr/>
          <p:nvPr/>
        </p:nvSpPr>
        <p:spPr>
          <a:xfrm>
            <a:off x="777240" y="548640"/>
            <a:ext cx="5486400" cy="320040"/>
          </a:xfrm>
          <a:prstGeom prst="rect">
            <a:avLst/>
          </a:prstGeom>
          <a:noFill/>
          <a:ln/>
        </p:spPr>
        <p:txBody>
          <a:bodyPr wrap="square" rtlCol="0" anchor="ctr"/>
          <a:lstStyle/>
          <a:p>
            <a:pPr indent="0" marL="0">
              <a:buNone/>
            </a:pPr>
            <a:r>
              <a:rPr lang="en-US" sz="1300" b="1" spc="200" kern="0" dirty="0">
                <a:solidFill>
                  <a:srgbClr val="CADCFC"/>
                </a:solidFill>
                <a:latin typeface="Calibri" pitchFamily="34" charset="0"/>
                <a:ea typeface="Calibri" pitchFamily="34" charset="-122"/>
                <a:cs typeface="Calibri" pitchFamily="34" charset="-120"/>
              </a:rPr>
              <a:t>FUTURE SCOPE</a:t>
            </a:r>
            <a:endParaRPr lang="en-US" sz="1300" dirty="0"/>
          </a:p>
        </p:txBody>
      </p:sp>
      <p:sp>
        <p:nvSpPr>
          <p:cNvPr id="5" name="Text 3"/>
          <p:cNvSpPr/>
          <p:nvPr/>
        </p:nvSpPr>
        <p:spPr>
          <a:xfrm>
            <a:off x="777240" y="868680"/>
            <a:ext cx="8229600" cy="594360"/>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Where the Platform Goes Next</a:t>
            </a:r>
            <a:endParaRPr lang="en-US" sz="2800" dirty="0"/>
          </a:p>
        </p:txBody>
      </p:sp>
      <p:sp>
        <p:nvSpPr>
          <p:cNvPr id="6" name="Shape 4"/>
          <p:cNvSpPr/>
          <p:nvPr/>
        </p:nvSpPr>
        <p:spPr>
          <a:xfrm>
            <a:off x="777240" y="1737360"/>
            <a:ext cx="5074920" cy="1371600"/>
          </a:xfrm>
          <a:prstGeom prst="roundRect">
            <a:avLst>
              <a:gd name="adj" fmla="val 6667"/>
            </a:avLst>
          </a:prstGeom>
          <a:solidFill>
            <a:srgbClr val="273478"/>
          </a:solidFill>
          <a:ln/>
        </p:spPr>
      </p:sp>
      <p:sp>
        <p:nvSpPr>
          <p:cNvPr id="7" name="Shape 5"/>
          <p:cNvSpPr/>
          <p:nvPr/>
        </p:nvSpPr>
        <p:spPr>
          <a:xfrm>
            <a:off x="978408" y="1938528"/>
            <a:ext cx="502920" cy="502920"/>
          </a:xfrm>
          <a:prstGeom prst="ellipse">
            <a:avLst/>
          </a:prstGeom>
          <a:solidFill>
            <a:srgbClr val="CADCFC"/>
          </a:solidFill>
          <a:ln/>
        </p:spPr>
      </p:sp>
      <p:pic>
        <p:nvPicPr>
          <p:cNvPr id="8" name="Image 0" descr="/home/claude/ppt/icons/brain_1E2761.png">    </p:cNvPr>
          <p:cNvPicPr>
            <a:picLocks noChangeAspect="1"/>
          </p:cNvPicPr>
          <p:nvPr/>
        </p:nvPicPr>
        <p:blipFill>
          <a:blip r:embed="rId1"/>
          <a:stretch>
            <a:fillRect/>
          </a:stretch>
        </p:blipFill>
        <p:spPr>
          <a:xfrm>
            <a:off x="1097280" y="2057400"/>
            <a:ext cx="265176" cy="265176"/>
          </a:xfrm>
          <a:prstGeom prst="rect">
            <a:avLst/>
          </a:prstGeom>
        </p:spPr>
      </p:pic>
      <p:sp>
        <p:nvSpPr>
          <p:cNvPr id="9" name="Text 6"/>
          <p:cNvSpPr/>
          <p:nvPr/>
        </p:nvSpPr>
        <p:spPr>
          <a:xfrm>
            <a:off x="1645920" y="19019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AI-Driven Sentiment &amp; Root-Cause Analysis</a:t>
            </a:r>
            <a:endParaRPr lang="en-US" sz="1300" dirty="0"/>
          </a:p>
        </p:txBody>
      </p:sp>
      <p:sp>
        <p:nvSpPr>
          <p:cNvPr id="10" name="Text 7"/>
          <p:cNvSpPr/>
          <p:nvPr/>
        </p:nvSpPr>
        <p:spPr>
          <a:xfrm>
            <a:off x="1645920" y="23957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Deeper NLP models to flag urgent or high-risk grievances automatically.</a:t>
            </a:r>
            <a:endParaRPr lang="en-US" sz="1050" dirty="0"/>
          </a:p>
        </p:txBody>
      </p:sp>
      <p:sp>
        <p:nvSpPr>
          <p:cNvPr id="11" name="Shape 8"/>
          <p:cNvSpPr/>
          <p:nvPr/>
        </p:nvSpPr>
        <p:spPr>
          <a:xfrm>
            <a:off x="6217920" y="1737360"/>
            <a:ext cx="5074920" cy="1371600"/>
          </a:xfrm>
          <a:prstGeom prst="roundRect">
            <a:avLst>
              <a:gd name="adj" fmla="val 6667"/>
            </a:avLst>
          </a:prstGeom>
          <a:solidFill>
            <a:srgbClr val="273478"/>
          </a:solidFill>
          <a:ln/>
        </p:spPr>
      </p:sp>
      <p:sp>
        <p:nvSpPr>
          <p:cNvPr id="12" name="Shape 9"/>
          <p:cNvSpPr/>
          <p:nvPr/>
        </p:nvSpPr>
        <p:spPr>
          <a:xfrm>
            <a:off x="6419088" y="1938528"/>
            <a:ext cx="502920" cy="502920"/>
          </a:xfrm>
          <a:prstGeom prst="ellipse">
            <a:avLst/>
          </a:prstGeom>
          <a:solidFill>
            <a:srgbClr val="CADCFC"/>
          </a:solidFill>
          <a:ln/>
        </p:spPr>
      </p:sp>
      <p:pic>
        <p:nvPicPr>
          <p:cNvPr id="13" name="Image 1" descr="/home/claude/ppt/icons/chart_1E2761.png">    </p:cNvPr>
          <p:cNvPicPr>
            <a:picLocks noChangeAspect="1"/>
          </p:cNvPicPr>
          <p:nvPr/>
        </p:nvPicPr>
        <p:blipFill>
          <a:blip r:embed="rId2"/>
          <a:stretch>
            <a:fillRect/>
          </a:stretch>
        </p:blipFill>
        <p:spPr>
          <a:xfrm>
            <a:off x="6537960" y="2057400"/>
            <a:ext cx="265176" cy="265176"/>
          </a:xfrm>
          <a:prstGeom prst="rect">
            <a:avLst/>
          </a:prstGeom>
        </p:spPr>
      </p:pic>
      <p:sp>
        <p:nvSpPr>
          <p:cNvPr id="14" name="Text 10"/>
          <p:cNvSpPr/>
          <p:nvPr/>
        </p:nvSpPr>
        <p:spPr>
          <a:xfrm>
            <a:off x="7086600" y="19019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Analytics Dashboards for Administrators</a:t>
            </a:r>
            <a:endParaRPr lang="en-US" sz="1300" dirty="0"/>
          </a:p>
        </p:txBody>
      </p:sp>
      <p:sp>
        <p:nvSpPr>
          <p:cNvPr id="15" name="Text 11"/>
          <p:cNvSpPr/>
          <p:nvPr/>
        </p:nvSpPr>
        <p:spPr>
          <a:xfrm>
            <a:off x="7086600" y="23957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Trend insights across departments to support proactive institutional decisions.</a:t>
            </a:r>
            <a:endParaRPr lang="en-US" sz="1050" dirty="0"/>
          </a:p>
        </p:txBody>
      </p:sp>
      <p:sp>
        <p:nvSpPr>
          <p:cNvPr id="16" name="Shape 12"/>
          <p:cNvSpPr/>
          <p:nvPr/>
        </p:nvSpPr>
        <p:spPr>
          <a:xfrm>
            <a:off x="777240" y="3337560"/>
            <a:ext cx="5074920" cy="1371600"/>
          </a:xfrm>
          <a:prstGeom prst="roundRect">
            <a:avLst>
              <a:gd name="adj" fmla="val 6667"/>
            </a:avLst>
          </a:prstGeom>
          <a:solidFill>
            <a:srgbClr val="273478"/>
          </a:solidFill>
          <a:ln/>
        </p:spPr>
      </p:sp>
      <p:sp>
        <p:nvSpPr>
          <p:cNvPr id="17" name="Shape 13"/>
          <p:cNvSpPr/>
          <p:nvPr/>
        </p:nvSpPr>
        <p:spPr>
          <a:xfrm>
            <a:off x="978408" y="3538728"/>
            <a:ext cx="502920" cy="502920"/>
          </a:xfrm>
          <a:prstGeom prst="ellipse">
            <a:avLst/>
          </a:prstGeom>
          <a:solidFill>
            <a:srgbClr val="CADCFC"/>
          </a:solidFill>
          <a:ln/>
        </p:spPr>
      </p:sp>
      <p:pic>
        <p:nvPicPr>
          <p:cNvPr id="18" name="Image 2" descr="/home/claude/ppt/icons/network_1E2761.png">    </p:cNvPr>
          <p:cNvPicPr>
            <a:picLocks noChangeAspect="1"/>
          </p:cNvPicPr>
          <p:nvPr/>
        </p:nvPicPr>
        <p:blipFill>
          <a:blip r:embed="rId3"/>
          <a:stretch>
            <a:fillRect/>
          </a:stretch>
        </p:blipFill>
        <p:spPr>
          <a:xfrm>
            <a:off x="1097280" y="3657600"/>
            <a:ext cx="265176" cy="265176"/>
          </a:xfrm>
          <a:prstGeom prst="rect">
            <a:avLst/>
          </a:prstGeom>
        </p:spPr>
      </p:pic>
      <p:sp>
        <p:nvSpPr>
          <p:cNvPr id="19" name="Text 14"/>
          <p:cNvSpPr/>
          <p:nvPr/>
        </p:nvSpPr>
        <p:spPr>
          <a:xfrm>
            <a:off x="1645920" y="35021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Multi-Institution / Multi-Tenant Support</a:t>
            </a:r>
            <a:endParaRPr lang="en-US" sz="1300" dirty="0"/>
          </a:p>
        </p:txBody>
      </p:sp>
      <p:sp>
        <p:nvSpPr>
          <p:cNvPr id="20" name="Text 15"/>
          <p:cNvSpPr/>
          <p:nvPr/>
        </p:nvSpPr>
        <p:spPr>
          <a:xfrm>
            <a:off x="1645920" y="39959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Extend the platform to serve multiple campuses or organizations at scale.</a:t>
            </a:r>
            <a:endParaRPr lang="en-US" sz="1050" dirty="0"/>
          </a:p>
        </p:txBody>
      </p:sp>
      <p:sp>
        <p:nvSpPr>
          <p:cNvPr id="21" name="Shape 16"/>
          <p:cNvSpPr/>
          <p:nvPr/>
        </p:nvSpPr>
        <p:spPr>
          <a:xfrm>
            <a:off x="6217920" y="3337560"/>
            <a:ext cx="5074920" cy="1371600"/>
          </a:xfrm>
          <a:prstGeom prst="roundRect">
            <a:avLst>
              <a:gd name="adj" fmla="val 6667"/>
            </a:avLst>
          </a:prstGeom>
          <a:solidFill>
            <a:srgbClr val="273478"/>
          </a:solidFill>
          <a:ln/>
        </p:spPr>
      </p:sp>
      <p:sp>
        <p:nvSpPr>
          <p:cNvPr id="22" name="Shape 17"/>
          <p:cNvSpPr/>
          <p:nvPr/>
        </p:nvSpPr>
        <p:spPr>
          <a:xfrm>
            <a:off x="6419088" y="3538728"/>
            <a:ext cx="502920" cy="502920"/>
          </a:xfrm>
          <a:prstGeom prst="ellipse">
            <a:avLst/>
          </a:prstGeom>
          <a:solidFill>
            <a:srgbClr val="CADCFC"/>
          </a:solidFill>
          <a:ln/>
        </p:spPr>
      </p:sp>
      <p:pic>
        <p:nvPicPr>
          <p:cNvPr id="23" name="Image 3" descr="/home/claude/ppt/icons/comments_1E2761.png">    </p:cNvPr>
          <p:cNvPicPr>
            <a:picLocks noChangeAspect="1"/>
          </p:cNvPicPr>
          <p:nvPr/>
        </p:nvPicPr>
        <p:blipFill>
          <a:blip r:embed="rId4"/>
          <a:stretch>
            <a:fillRect/>
          </a:stretch>
        </p:blipFill>
        <p:spPr>
          <a:xfrm>
            <a:off x="6537960" y="3657600"/>
            <a:ext cx="265176" cy="265176"/>
          </a:xfrm>
          <a:prstGeom prst="rect">
            <a:avLst/>
          </a:prstGeom>
        </p:spPr>
      </p:pic>
      <p:sp>
        <p:nvSpPr>
          <p:cNvPr id="24" name="Text 18"/>
          <p:cNvSpPr/>
          <p:nvPr/>
        </p:nvSpPr>
        <p:spPr>
          <a:xfrm>
            <a:off x="7086600" y="35021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Chatbot-Assisted Grievance Filing</a:t>
            </a:r>
            <a:endParaRPr lang="en-US" sz="1300" dirty="0"/>
          </a:p>
        </p:txBody>
      </p:sp>
      <p:sp>
        <p:nvSpPr>
          <p:cNvPr id="25" name="Text 19"/>
          <p:cNvSpPr/>
          <p:nvPr/>
        </p:nvSpPr>
        <p:spPr>
          <a:xfrm>
            <a:off x="7086600" y="39959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Conversational intake that guides complainants and speeds up submission.</a:t>
            </a:r>
            <a:endParaRPr lang="en-US" sz="1050" dirty="0"/>
          </a:p>
        </p:txBody>
      </p:sp>
      <p:sp>
        <p:nvSpPr>
          <p:cNvPr id="26" name="Shape 20"/>
          <p:cNvSpPr/>
          <p:nvPr/>
        </p:nvSpPr>
        <p:spPr>
          <a:xfrm>
            <a:off x="777240" y="4937760"/>
            <a:ext cx="5074920" cy="1371600"/>
          </a:xfrm>
          <a:prstGeom prst="roundRect">
            <a:avLst>
              <a:gd name="adj" fmla="val 6667"/>
            </a:avLst>
          </a:prstGeom>
          <a:solidFill>
            <a:srgbClr val="273478"/>
          </a:solidFill>
          <a:ln/>
        </p:spPr>
      </p:sp>
      <p:sp>
        <p:nvSpPr>
          <p:cNvPr id="27" name="Shape 21"/>
          <p:cNvSpPr/>
          <p:nvPr/>
        </p:nvSpPr>
        <p:spPr>
          <a:xfrm>
            <a:off x="978408" y="5138928"/>
            <a:ext cx="502920" cy="502920"/>
          </a:xfrm>
          <a:prstGeom prst="ellipse">
            <a:avLst/>
          </a:prstGeom>
          <a:solidFill>
            <a:srgbClr val="CADCFC"/>
          </a:solidFill>
          <a:ln/>
        </p:spPr>
      </p:sp>
      <p:pic>
        <p:nvPicPr>
          <p:cNvPr id="28" name="Image 4" descr="/home/claude/ppt/icons/cloud_1E2761.png">    </p:cNvPr>
          <p:cNvPicPr>
            <a:picLocks noChangeAspect="1"/>
          </p:cNvPicPr>
          <p:nvPr/>
        </p:nvPicPr>
        <p:blipFill>
          <a:blip r:embed="rId5"/>
          <a:stretch>
            <a:fillRect/>
          </a:stretch>
        </p:blipFill>
        <p:spPr>
          <a:xfrm>
            <a:off x="1097280" y="5257800"/>
            <a:ext cx="265176" cy="265176"/>
          </a:xfrm>
          <a:prstGeom prst="rect">
            <a:avLst/>
          </a:prstGeom>
        </p:spPr>
      </p:pic>
      <p:sp>
        <p:nvSpPr>
          <p:cNvPr id="29" name="Text 22"/>
          <p:cNvSpPr/>
          <p:nvPr/>
        </p:nvSpPr>
        <p:spPr>
          <a:xfrm>
            <a:off x="1645920" y="51023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Mobile App &amp; Push Notifications</a:t>
            </a:r>
            <a:endParaRPr lang="en-US" sz="1300" dirty="0"/>
          </a:p>
        </p:txBody>
      </p:sp>
      <p:sp>
        <p:nvSpPr>
          <p:cNvPr id="30" name="Text 23"/>
          <p:cNvSpPr/>
          <p:nvPr/>
        </p:nvSpPr>
        <p:spPr>
          <a:xfrm>
            <a:off x="1645920" y="55961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Native mobile experience for on-the-go tracking and instant updates.</a:t>
            </a:r>
            <a:endParaRPr lang="en-US" sz="1050" dirty="0"/>
          </a:p>
        </p:txBody>
      </p:sp>
      <p:sp>
        <p:nvSpPr>
          <p:cNvPr id="31" name="Shape 24"/>
          <p:cNvSpPr/>
          <p:nvPr/>
        </p:nvSpPr>
        <p:spPr>
          <a:xfrm>
            <a:off x="6217920" y="4937760"/>
            <a:ext cx="5074920" cy="1371600"/>
          </a:xfrm>
          <a:prstGeom prst="roundRect">
            <a:avLst>
              <a:gd name="adj" fmla="val 6667"/>
            </a:avLst>
          </a:prstGeom>
          <a:solidFill>
            <a:srgbClr val="273478"/>
          </a:solidFill>
          <a:ln/>
        </p:spPr>
      </p:sp>
      <p:sp>
        <p:nvSpPr>
          <p:cNvPr id="32" name="Shape 25"/>
          <p:cNvSpPr/>
          <p:nvPr/>
        </p:nvSpPr>
        <p:spPr>
          <a:xfrm>
            <a:off x="6419088" y="5138928"/>
            <a:ext cx="502920" cy="502920"/>
          </a:xfrm>
          <a:prstGeom prst="ellipse">
            <a:avLst/>
          </a:prstGeom>
          <a:solidFill>
            <a:srgbClr val="CADCFC"/>
          </a:solidFill>
          <a:ln/>
        </p:spPr>
      </p:sp>
      <p:pic>
        <p:nvPicPr>
          <p:cNvPr id="33" name="Image 5" descr="/home/claude/ppt/icons/shieldAlt_1E2761.png">    </p:cNvPr>
          <p:cNvPicPr>
            <a:picLocks noChangeAspect="1"/>
          </p:cNvPicPr>
          <p:nvPr/>
        </p:nvPicPr>
        <p:blipFill>
          <a:blip r:embed="rId6"/>
          <a:stretch>
            <a:fillRect/>
          </a:stretch>
        </p:blipFill>
        <p:spPr>
          <a:xfrm>
            <a:off x="6537960" y="5257800"/>
            <a:ext cx="265176" cy="265176"/>
          </a:xfrm>
          <a:prstGeom prst="rect">
            <a:avLst/>
          </a:prstGeom>
        </p:spPr>
      </p:pic>
      <p:sp>
        <p:nvSpPr>
          <p:cNvPr id="34" name="Text 26"/>
          <p:cNvSpPr/>
          <p:nvPr/>
        </p:nvSpPr>
        <p:spPr>
          <a:xfrm>
            <a:off x="7086600" y="5102352"/>
            <a:ext cx="4023360" cy="502920"/>
          </a:xfrm>
          <a:prstGeom prst="rect">
            <a:avLst/>
          </a:prstGeom>
          <a:noFill/>
          <a:ln/>
        </p:spPr>
        <p:txBody>
          <a:bodyPr wrap="square" rtlCol="0" anchor="ctr"/>
          <a:lstStyle/>
          <a:p>
            <a:pPr indent="0" marL="0">
              <a:lnSpc>
                <a:spcPts val="1500"/>
              </a:lnSpc>
              <a:buNone/>
            </a:pPr>
            <a:r>
              <a:rPr lang="en-US" sz="1300" b="1" dirty="0">
                <a:solidFill>
                  <a:srgbClr val="FFFFFF"/>
                </a:solidFill>
                <a:latin typeface="Calibri" pitchFamily="34" charset="0"/>
                <a:ea typeface="Calibri" pitchFamily="34" charset="-122"/>
                <a:cs typeface="Calibri" pitchFamily="34" charset="-120"/>
              </a:rPr>
              <a:t>Advanced Audit &amp; Compliance Logging</a:t>
            </a:r>
            <a:endParaRPr lang="en-US" sz="1300" dirty="0"/>
          </a:p>
        </p:txBody>
      </p:sp>
      <p:sp>
        <p:nvSpPr>
          <p:cNvPr id="35" name="Text 27"/>
          <p:cNvSpPr/>
          <p:nvPr/>
        </p:nvSpPr>
        <p:spPr>
          <a:xfrm>
            <a:off x="7086600" y="5596128"/>
            <a:ext cx="4023360" cy="640080"/>
          </a:xfrm>
          <a:prstGeom prst="rect">
            <a:avLst/>
          </a:prstGeom>
          <a:noFill/>
          <a:ln/>
        </p:spPr>
        <p:txBody>
          <a:bodyPr wrap="square"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Immutable audit trails to strengthen accountability and regulatory readiness.</a:t>
            </a:r>
            <a:endParaRPr lang="en-US" sz="1050" dirty="0"/>
          </a:p>
        </p:txBody>
      </p:sp>
      <p:sp>
        <p:nvSpPr>
          <p:cNvPr id="36" name="Text 28"/>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57200"/>
            <a:ext cx="5486400" cy="320040"/>
          </a:xfrm>
          <a:prstGeom prst="rect">
            <a:avLst/>
          </a:prstGeom>
          <a:noFill/>
          <a:ln/>
        </p:spPr>
        <p:txBody>
          <a:bodyPr wrap="square" rtlCol="0" anchor="ctr"/>
          <a:lstStyle/>
          <a:p>
            <a:pPr indent="0" marL="0">
              <a:buNone/>
            </a:pPr>
            <a:r>
              <a:rPr lang="en-US" sz="1300" b="1" spc="200" kern="0" dirty="0">
                <a:solidFill>
                  <a:srgbClr val="1E2761"/>
                </a:solidFill>
                <a:latin typeface="Calibri" pitchFamily="34" charset="0"/>
                <a:ea typeface="Calibri" pitchFamily="34" charset="-122"/>
                <a:cs typeface="Calibri" pitchFamily="34" charset="-120"/>
              </a:rPr>
              <a:t>CONCLUSION</a:t>
            </a:r>
            <a:endParaRPr lang="en-US" sz="1300" dirty="0"/>
          </a:p>
        </p:txBody>
      </p:sp>
      <p:sp>
        <p:nvSpPr>
          <p:cNvPr id="3" name="Text 1"/>
          <p:cNvSpPr/>
          <p:nvPr/>
        </p:nvSpPr>
        <p:spPr>
          <a:xfrm>
            <a:off x="640080" y="777240"/>
            <a:ext cx="8686800" cy="548640"/>
          </a:xfrm>
          <a:prstGeom prst="rect">
            <a:avLst/>
          </a:prstGeom>
          <a:noFill/>
          <a:ln/>
        </p:spPr>
        <p:txBody>
          <a:bodyPr wrap="square" rtlCol="0" anchor="ctr"/>
          <a:lstStyle/>
          <a:p>
            <a:pPr indent="0" marL="0">
              <a:buNone/>
            </a:pPr>
            <a:r>
              <a:rPr lang="en-US" sz="2800" b="1" dirty="0">
                <a:solidFill>
                  <a:srgbClr val="23262F"/>
                </a:solidFill>
                <a:latin typeface="Cambria" pitchFamily="34" charset="0"/>
                <a:ea typeface="Cambria" pitchFamily="34" charset="-122"/>
                <a:cs typeface="Cambria" pitchFamily="34" charset="-120"/>
              </a:rPr>
              <a:t>A More Accountable Institution</a:t>
            </a:r>
            <a:endParaRPr lang="en-US" sz="2800" dirty="0"/>
          </a:p>
        </p:txBody>
      </p:sp>
      <p:sp>
        <p:nvSpPr>
          <p:cNvPr id="4" name="Shape 2"/>
          <p:cNvSpPr/>
          <p:nvPr/>
        </p:nvSpPr>
        <p:spPr>
          <a:xfrm>
            <a:off x="640080" y="1481328"/>
            <a:ext cx="6035040" cy="10973"/>
          </a:xfrm>
          <a:prstGeom prst="rect">
            <a:avLst/>
          </a:prstGeom>
          <a:solidFill>
            <a:srgbClr val="CADCFC"/>
          </a:solidFill>
          <a:ln/>
        </p:spPr>
      </p:sp>
      <p:sp>
        <p:nvSpPr>
          <p:cNvPr id="5" name="Text 3"/>
          <p:cNvSpPr/>
          <p:nvPr/>
        </p:nvSpPr>
        <p:spPr>
          <a:xfrm>
            <a:off x="640080" y="1737360"/>
            <a:ext cx="10881360" cy="1005840"/>
          </a:xfrm>
          <a:prstGeom prst="rect">
            <a:avLst/>
          </a:prstGeom>
          <a:noFill/>
          <a:ln/>
        </p:spPr>
        <p:txBody>
          <a:bodyPr wrap="square" rtlCol="0" anchor="ctr"/>
          <a:lstStyle/>
          <a:p>
            <a:pPr indent="0" marL="0">
              <a:lnSpc>
                <a:spcPts val="2100"/>
              </a:lnSpc>
              <a:buNone/>
            </a:pPr>
            <a:r>
              <a:rPr lang="en-US" sz="1400" dirty="0">
                <a:solidFill>
                  <a:srgbClr val="23262F"/>
                </a:solidFill>
                <a:latin typeface="Calibri" pitchFamily="34" charset="0"/>
                <a:ea typeface="Calibri" pitchFamily="34" charset="-122"/>
                <a:cs typeface="Calibri" pitchFamily="34" charset="-120"/>
              </a:rPr>
              <a:t>The Grievance Redressal Portal replaces slow, manual, and untraceable complaint handling with a single digital system that every student, faculty member, and staff member can trust. Built on a clean React JS, Node.js, and MySQL stack, it is simple to deploy, easy to maintain, and ready to scale as the institution grows.</a:t>
            </a:r>
            <a:endParaRPr lang="en-US" sz="1400" dirty="0"/>
          </a:p>
        </p:txBody>
      </p:sp>
      <p:sp>
        <p:nvSpPr>
          <p:cNvPr id="6" name="Shape 4"/>
          <p:cNvSpPr/>
          <p:nvPr/>
        </p:nvSpPr>
        <p:spPr>
          <a:xfrm>
            <a:off x="640080" y="3063240"/>
            <a:ext cx="2542032" cy="1965960"/>
          </a:xfrm>
          <a:prstGeom prst="roundRect">
            <a:avLst>
              <a:gd name="adj" fmla="val 4651"/>
            </a:avLst>
          </a:prstGeom>
          <a:solidFill>
            <a:srgbClr val="F6F8FD"/>
          </a:solidFill>
          <a:ln/>
        </p:spPr>
      </p:sp>
      <p:sp>
        <p:nvSpPr>
          <p:cNvPr id="7" name="Shape 5"/>
          <p:cNvSpPr/>
          <p:nvPr/>
        </p:nvSpPr>
        <p:spPr>
          <a:xfrm>
            <a:off x="859536" y="3291840"/>
            <a:ext cx="475488" cy="475488"/>
          </a:xfrm>
          <a:prstGeom prst="ellipse">
            <a:avLst/>
          </a:prstGeom>
          <a:solidFill>
            <a:srgbClr val="1E2761"/>
          </a:solidFill>
          <a:ln/>
        </p:spPr>
      </p:sp>
      <p:pic>
        <p:nvPicPr>
          <p:cNvPr id="8" name="Image 0" descr="/home/claude/ppt/icons/check_FFFFFF.png">    </p:cNvPr>
          <p:cNvPicPr>
            <a:picLocks noChangeAspect="1"/>
          </p:cNvPicPr>
          <p:nvPr/>
        </p:nvPicPr>
        <p:blipFill>
          <a:blip r:embed="rId1"/>
          <a:stretch>
            <a:fillRect/>
          </a:stretch>
        </p:blipFill>
        <p:spPr>
          <a:xfrm>
            <a:off x="978408" y="3410712"/>
            <a:ext cx="246888" cy="246888"/>
          </a:xfrm>
          <a:prstGeom prst="rect">
            <a:avLst/>
          </a:prstGeom>
        </p:spPr>
      </p:pic>
      <p:sp>
        <p:nvSpPr>
          <p:cNvPr id="9" name="Text 6"/>
          <p:cNvSpPr/>
          <p:nvPr/>
        </p:nvSpPr>
        <p:spPr>
          <a:xfrm>
            <a:off x="859536" y="3904488"/>
            <a:ext cx="2130552"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Transparency</a:t>
            </a:r>
            <a:endParaRPr lang="en-US" sz="1350" dirty="0"/>
          </a:p>
        </p:txBody>
      </p:sp>
      <p:sp>
        <p:nvSpPr>
          <p:cNvPr id="10" name="Text 7"/>
          <p:cNvSpPr/>
          <p:nvPr/>
        </p:nvSpPr>
        <p:spPr>
          <a:xfrm>
            <a:off x="859536" y="4233672"/>
            <a:ext cx="2130552" cy="685800"/>
          </a:xfrm>
          <a:prstGeom prst="rect">
            <a:avLst/>
          </a:prstGeom>
          <a:noFill/>
          <a:ln/>
        </p:spPr>
        <p:txBody>
          <a:bodyPr wrap="square"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Every user can see real-time status instead of chasing updates manually</a:t>
            </a:r>
            <a:endParaRPr lang="en-US" sz="1050" dirty="0"/>
          </a:p>
        </p:txBody>
      </p:sp>
      <p:sp>
        <p:nvSpPr>
          <p:cNvPr id="11" name="Shape 8"/>
          <p:cNvSpPr/>
          <p:nvPr/>
        </p:nvSpPr>
        <p:spPr>
          <a:xfrm>
            <a:off x="3410712" y="3063240"/>
            <a:ext cx="2542032" cy="1965960"/>
          </a:xfrm>
          <a:prstGeom prst="roundRect">
            <a:avLst>
              <a:gd name="adj" fmla="val 4651"/>
            </a:avLst>
          </a:prstGeom>
          <a:solidFill>
            <a:srgbClr val="F6F8FD"/>
          </a:solidFill>
          <a:ln/>
        </p:spPr>
      </p:sp>
      <p:sp>
        <p:nvSpPr>
          <p:cNvPr id="12" name="Shape 9"/>
          <p:cNvSpPr/>
          <p:nvPr/>
        </p:nvSpPr>
        <p:spPr>
          <a:xfrm>
            <a:off x="3630168" y="3291840"/>
            <a:ext cx="475488" cy="475488"/>
          </a:xfrm>
          <a:prstGeom prst="ellipse">
            <a:avLst/>
          </a:prstGeom>
          <a:solidFill>
            <a:srgbClr val="1E2761"/>
          </a:solidFill>
          <a:ln/>
        </p:spPr>
      </p:sp>
      <p:pic>
        <p:nvPicPr>
          <p:cNvPr id="13" name="Image 1" descr="/home/claude/ppt/icons/clock_FFFFFF.png">    </p:cNvPr>
          <p:cNvPicPr>
            <a:picLocks noChangeAspect="1"/>
          </p:cNvPicPr>
          <p:nvPr/>
        </p:nvPicPr>
        <p:blipFill>
          <a:blip r:embed="rId2"/>
          <a:stretch>
            <a:fillRect/>
          </a:stretch>
        </p:blipFill>
        <p:spPr>
          <a:xfrm>
            <a:off x="3749040" y="3410712"/>
            <a:ext cx="246888" cy="246888"/>
          </a:xfrm>
          <a:prstGeom prst="rect">
            <a:avLst/>
          </a:prstGeom>
        </p:spPr>
      </p:pic>
      <p:sp>
        <p:nvSpPr>
          <p:cNvPr id="14" name="Text 10"/>
          <p:cNvSpPr/>
          <p:nvPr/>
        </p:nvSpPr>
        <p:spPr>
          <a:xfrm>
            <a:off x="3630168" y="3904488"/>
            <a:ext cx="2130552"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Faster Resolution</a:t>
            </a:r>
            <a:endParaRPr lang="en-US" sz="1350" dirty="0"/>
          </a:p>
        </p:txBody>
      </p:sp>
      <p:sp>
        <p:nvSpPr>
          <p:cNvPr id="15" name="Text 11"/>
          <p:cNvSpPr/>
          <p:nvPr/>
        </p:nvSpPr>
        <p:spPr>
          <a:xfrm>
            <a:off x="3630168" y="4233672"/>
            <a:ext cx="2130552" cy="685800"/>
          </a:xfrm>
          <a:prstGeom prst="rect">
            <a:avLst/>
          </a:prstGeom>
          <a:noFill/>
          <a:ln/>
        </p:spPr>
        <p:txBody>
          <a:bodyPr wrap="square"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Automated routing and priority tagging cut down response time</a:t>
            </a:r>
            <a:endParaRPr lang="en-US" sz="1050" dirty="0"/>
          </a:p>
        </p:txBody>
      </p:sp>
      <p:sp>
        <p:nvSpPr>
          <p:cNvPr id="16" name="Shape 12"/>
          <p:cNvSpPr/>
          <p:nvPr/>
        </p:nvSpPr>
        <p:spPr>
          <a:xfrm>
            <a:off x="6181344" y="3063240"/>
            <a:ext cx="2542032" cy="1965960"/>
          </a:xfrm>
          <a:prstGeom prst="roundRect">
            <a:avLst>
              <a:gd name="adj" fmla="val 4651"/>
            </a:avLst>
          </a:prstGeom>
          <a:solidFill>
            <a:srgbClr val="F6F8FD"/>
          </a:solidFill>
          <a:ln/>
        </p:spPr>
      </p:sp>
      <p:sp>
        <p:nvSpPr>
          <p:cNvPr id="17" name="Shape 13"/>
          <p:cNvSpPr/>
          <p:nvPr/>
        </p:nvSpPr>
        <p:spPr>
          <a:xfrm>
            <a:off x="6400800" y="3291840"/>
            <a:ext cx="475488" cy="475488"/>
          </a:xfrm>
          <a:prstGeom prst="ellipse">
            <a:avLst/>
          </a:prstGeom>
          <a:solidFill>
            <a:srgbClr val="1E2761"/>
          </a:solidFill>
          <a:ln/>
        </p:spPr>
      </p:sp>
      <p:pic>
        <p:nvPicPr>
          <p:cNvPr id="18" name="Image 2" descr="/home/claude/ppt/icons/shieldAlt_FFFFFF.png">    </p:cNvPr>
          <p:cNvPicPr>
            <a:picLocks noChangeAspect="1"/>
          </p:cNvPicPr>
          <p:nvPr/>
        </p:nvPicPr>
        <p:blipFill>
          <a:blip r:embed="rId3"/>
          <a:stretch>
            <a:fillRect/>
          </a:stretch>
        </p:blipFill>
        <p:spPr>
          <a:xfrm>
            <a:off x="6519672" y="3410712"/>
            <a:ext cx="246888" cy="246888"/>
          </a:xfrm>
          <a:prstGeom prst="rect">
            <a:avLst/>
          </a:prstGeom>
        </p:spPr>
      </p:pic>
      <p:sp>
        <p:nvSpPr>
          <p:cNvPr id="19" name="Text 14"/>
          <p:cNvSpPr/>
          <p:nvPr/>
        </p:nvSpPr>
        <p:spPr>
          <a:xfrm>
            <a:off x="6400800" y="3904488"/>
            <a:ext cx="2130552"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Accountability</a:t>
            </a:r>
            <a:endParaRPr lang="en-US" sz="1350" dirty="0"/>
          </a:p>
        </p:txBody>
      </p:sp>
      <p:sp>
        <p:nvSpPr>
          <p:cNvPr id="20" name="Text 15"/>
          <p:cNvSpPr/>
          <p:nvPr/>
        </p:nvSpPr>
        <p:spPr>
          <a:xfrm>
            <a:off x="6400800" y="4233672"/>
            <a:ext cx="2130552" cy="685800"/>
          </a:xfrm>
          <a:prstGeom prst="rect">
            <a:avLst/>
          </a:prstGeom>
          <a:noFill/>
          <a:ln/>
        </p:spPr>
        <p:txBody>
          <a:bodyPr wrap="square"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Structured records make ownership and timelines easy to enforce</a:t>
            </a:r>
            <a:endParaRPr lang="en-US" sz="1050" dirty="0"/>
          </a:p>
        </p:txBody>
      </p:sp>
      <p:sp>
        <p:nvSpPr>
          <p:cNvPr id="21" name="Shape 16"/>
          <p:cNvSpPr/>
          <p:nvPr/>
        </p:nvSpPr>
        <p:spPr>
          <a:xfrm>
            <a:off x="8951976" y="3063240"/>
            <a:ext cx="2542032" cy="1965960"/>
          </a:xfrm>
          <a:prstGeom prst="roundRect">
            <a:avLst>
              <a:gd name="adj" fmla="val 4651"/>
            </a:avLst>
          </a:prstGeom>
          <a:solidFill>
            <a:srgbClr val="F6F8FD"/>
          </a:solidFill>
          <a:ln/>
        </p:spPr>
      </p:sp>
      <p:sp>
        <p:nvSpPr>
          <p:cNvPr id="22" name="Shape 17"/>
          <p:cNvSpPr/>
          <p:nvPr/>
        </p:nvSpPr>
        <p:spPr>
          <a:xfrm>
            <a:off x="9171432" y="3291840"/>
            <a:ext cx="475488" cy="475488"/>
          </a:xfrm>
          <a:prstGeom prst="ellipse">
            <a:avLst/>
          </a:prstGeom>
          <a:solidFill>
            <a:srgbClr val="1E2761"/>
          </a:solidFill>
          <a:ln/>
        </p:spPr>
      </p:sp>
      <p:pic>
        <p:nvPicPr>
          <p:cNvPr id="23" name="Image 3" descr="/home/claude/ppt/icons/rocket_FFFFFF.png">    </p:cNvPr>
          <p:cNvPicPr>
            <a:picLocks noChangeAspect="1"/>
          </p:cNvPicPr>
          <p:nvPr/>
        </p:nvPicPr>
        <p:blipFill>
          <a:blip r:embed="rId4"/>
          <a:stretch>
            <a:fillRect/>
          </a:stretch>
        </p:blipFill>
        <p:spPr>
          <a:xfrm>
            <a:off x="9290304" y="3410712"/>
            <a:ext cx="246888" cy="246888"/>
          </a:xfrm>
          <a:prstGeom prst="rect">
            <a:avLst/>
          </a:prstGeom>
        </p:spPr>
      </p:pic>
      <p:sp>
        <p:nvSpPr>
          <p:cNvPr id="24" name="Text 18"/>
          <p:cNvSpPr/>
          <p:nvPr/>
        </p:nvSpPr>
        <p:spPr>
          <a:xfrm>
            <a:off x="9171432" y="3904488"/>
            <a:ext cx="2130552" cy="320040"/>
          </a:xfrm>
          <a:prstGeom prst="rect">
            <a:avLst/>
          </a:prstGeom>
          <a:noFill/>
          <a:ln/>
        </p:spPr>
        <p:txBody>
          <a:bodyPr wrap="square" rtlCol="0" anchor="ctr"/>
          <a:lstStyle/>
          <a:p>
            <a:pPr indent="0" marL="0">
              <a:buNone/>
            </a:pPr>
            <a:r>
              <a:rPr lang="en-US" sz="1350" b="1" dirty="0">
                <a:solidFill>
                  <a:srgbClr val="23262F"/>
                </a:solidFill>
                <a:latin typeface="Calibri" pitchFamily="34" charset="0"/>
                <a:ea typeface="Calibri" pitchFamily="34" charset="-122"/>
                <a:cs typeface="Calibri" pitchFamily="34" charset="-120"/>
              </a:rPr>
              <a:t>Scalability</a:t>
            </a:r>
            <a:endParaRPr lang="en-US" sz="1350" dirty="0"/>
          </a:p>
        </p:txBody>
      </p:sp>
      <p:sp>
        <p:nvSpPr>
          <p:cNvPr id="25" name="Text 19"/>
          <p:cNvSpPr/>
          <p:nvPr/>
        </p:nvSpPr>
        <p:spPr>
          <a:xfrm>
            <a:off x="9171432" y="4233672"/>
            <a:ext cx="2130552" cy="685800"/>
          </a:xfrm>
          <a:prstGeom prst="rect">
            <a:avLst/>
          </a:prstGeom>
          <a:noFill/>
          <a:ln/>
        </p:spPr>
        <p:txBody>
          <a:bodyPr wrap="square" rtlCol="0" anchor="ctr"/>
          <a:lstStyle/>
          <a:p>
            <a:pPr indent="0" marL="0">
              <a:lnSpc>
                <a:spcPts val="1350"/>
              </a:lnSpc>
              <a:buNone/>
            </a:pPr>
            <a:r>
              <a:rPr lang="en-US" sz="1050" dirty="0">
                <a:solidFill>
                  <a:srgbClr val="6B7280"/>
                </a:solidFill>
                <a:latin typeface="Calibri" pitchFamily="34" charset="0"/>
                <a:ea typeface="Calibri" pitchFamily="34" charset="-122"/>
                <a:cs typeface="Calibri" pitchFamily="34" charset="-120"/>
              </a:rPr>
              <a:t>A clean tech stack that can grow with future features and users</a:t>
            </a:r>
            <a:endParaRPr lang="en-US" sz="1050" dirty="0"/>
          </a:p>
        </p:txBody>
      </p:sp>
      <p:sp>
        <p:nvSpPr>
          <p:cNvPr id="26" name="Shape 20"/>
          <p:cNvSpPr/>
          <p:nvPr/>
        </p:nvSpPr>
        <p:spPr>
          <a:xfrm>
            <a:off x="640080" y="5349240"/>
            <a:ext cx="10881360" cy="777240"/>
          </a:xfrm>
          <a:prstGeom prst="roundRect">
            <a:avLst>
              <a:gd name="adj" fmla="val 11765"/>
            </a:avLst>
          </a:prstGeom>
          <a:solidFill>
            <a:srgbClr val="1E2761"/>
          </a:solidFill>
          <a:ln/>
        </p:spPr>
      </p:sp>
      <p:pic>
        <p:nvPicPr>
          <p:cNvPr id="27" name="Image 4" descr="/home/claude/ppt/icons/flag_CADCFC.png">    </p:cNvPr>
          <p:cNvPicPr>
            <a:picLocks noChangeAspect="1"/>
          </p:cNvPicPr>
          <p:nvPr/>
        </p:nvPicPr>
        <p:blipFill>
          <a:blip r:embed="rId5"/>
          <a:stretch>
            <a:fillRect/>
          </a:stretch>
        </p:blipFill>
        <p:spPr>
          <a:xfrm>
            <a:off x="868680" y="5568696"/>
            <a:ext cx="347472" cy="347472"/>
          </a:xfrm>
          <a:prstGeom prst="rect">
            <a:avLst/>
          </a:prstGeom>
        </p:spPr>
      </p:pic>
      <p:sp>
        <p:nvSpPr>
          <p:cNvPr id="28" name="Text 21"/>
          <p:cNvSpPr/>
          <p:nvPr/>
        </p:nvSpPr>
        <p:spPr>
          <a:xfrm>
            <a:off x="1371600" y="5349240"/>
            <a:ext cx="9784080" cy="77724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Thank you — questions and feedback are welcome.</a:t>
            </a:r>
            <a:endParaRPr lang="en-US" sz="1350" dirty="0"/>
          </a:p>
        </p:txBody>
      </p:sp>
      <p:sp>
        <p:nvSpPr>
          <p:cNvPr id="29" name="Text 22"/>
          <p:cNvSpPr/>
          <p:nvPr/>
        </p:nvSpPr>
        <p:spPr>
          <a:xfrm>
            <a:off x="11368735" y="6400800"/>
            <a:ext cx="54864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2026-08-19T09:11:39Z</dcterms:created>
  <dcterms:modified xsi:type="dcterms:W3CDTF">2026-08-19T09:11:39Z</dcterms:modified>
</cp:coreProperties>
</file>